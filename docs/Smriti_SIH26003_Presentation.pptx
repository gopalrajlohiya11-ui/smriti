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731520"/>
            <a:ext cx="10698480" cy="2377440"/>
          </a:xfrm>
          <a:prstGeom prst="roundRect">
            <a:avLst>
              <a:gd name="adj" fmla="val 5769"/>
            </a:avLst>
          </a:prstGeom>
          <a:solidFill>
            <a:srgbClr val="1E3A2F"/>
          </a:solidFill>
          <a:ln w="12700">
            <a:solidFill>
              <a:srgbClr val="1E3A2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97280" y="9144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🌸 SMRITI (স্মৃতি / स्मृति)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97280" y="15087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DE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Cognitive Care &amp; Memory Companion Platform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97280" y="192024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Culturally Attuned Dementia &amp; Mild Cognitive Impairment (MCI) Support for North-Eastern India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3337560"/>
            <a:ext cx="33832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25400">
            <a:solidFill>
              <a:srgbClr val="1E40A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342900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</a:rPr>
              <a:t>SMART INDIA HACKATHON 2026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68680" y="37490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Problem Statement: SIH26003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389120" y="3337560"/>
            <a:ext cx="33832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25400">
            <a:solidFill>
              <a:srgbClr val="C25E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26280" y="342900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</a:rPr>
              <a:t>MINISTRY OF DONER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26280" y="37490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Govt. of India North East Focus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8046720" y="3337560"/>
            <a:ext cx="33832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25400">
            <a:solidFill>
              <a:srgbClr val="1E3A2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83880" y="342900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</a:rPr>
              <a:t>TEAM DESIGN DIVAS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183880" y="37490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34155"/>
                </a:solidFill>
              </a:rPr>
              <a:t>Full-Stack &amp; ML Healthcare Solution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31520" y="4526280"/>
            <a:ext cx="10698480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4617720"/>
            <a:ext cx="10332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25E2E"/>
                </a:solidFill>
              </a:rPr>
              <a:t>CORE ARCHITECTURAL PILLARS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914400" y="489204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950" dirty="0">
                <a:solidFill>
                  <a:srgbClr val="334155"/>
                </a:solidFill>
              </a:rPr>
              <a:t>• 5 Culturally Rooted Cognitive Games with NER Heritage Themes &amp; Dynamic ML Difficulty Scaling</a:t>
            </a:r>
            <a:endParaRPr lang="en-US" sz="9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950" dirty="0">
                <a:solidFill>
                  <a:srgbClr val="334155"/>
                </a:solidFill>
              </a:rPr>
              <a:t>• Multimodal Voice-First Experience (EN/HI Live + Assamese UI) &amp; Meta WhatsApp Companion Bot</a:t>
            </a:r>
            <a:endParaRPr lang="en-US" sz="9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950" dirty="0">
                <a:solidFill>
                  <a:srgbClr val="334155"/>
                </a:solidFill>
              </a:rPr>
              <a:t>• 100% Offline-First PWA (Workbox + IndexedDB) with Biometric Auth &amp; Background Action Sync Queue</a:t>
            </a:r>
            <a:endParaRPr lang="en-US" sz="9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950" dirty="0">
                <a:solidFill>
                  <a:srgbClr val="334155"/>
                </a:solidFill>
              </a:rPr>
              <a:t>• Clinical Caregiver Command Center with Real-Time Red Flag Alerts, Adherence Analytics &amp; DPDP 2023 Compliance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2011680" cy="292608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6576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PROBLEM STATEMENT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713232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SIH26003: Cognitive Care in North-Eastern India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11430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Empowering seniors with Alzheimer’s, Dementia &amp; MCI through accessible digital intervention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Smriti (স্মৃতি) • Team Design Divas • SIH26003 (MDoNER)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DF2EB"/>
          </a:solidFill>
          <a:ln w="19050">
            <a:solidFill>
              <a:srgbClr val="C25E2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536192"/>
            <a:ext cx="10698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25E2E"/>
                </a:solidFill>
              </a:rPr>
              <a:t>🚨 THE REGIONAL HEALTHCARE CHALLENGE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78308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</a:rPr>
              <a:t>Dementia and MCI remain severely underdiagnosed in North-Eastern India due to geographic isolation, limited specialist clinical access, language barriers, and intermittent rural connectivity. Seniors need daily cognitive stimulation and medication adherence monitoring without friction.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" y="2514600"/>
            <a:ext cx="539496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258775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3A2F"/>
                </a:solidFill>
              </a:rPr>
              <a:t>(a) Culturally Attuned Games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85800" y="2862072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</a:rPr>
              <a:t>Indian &amp; NER regional contexts for familiar, engaging cognitive therapy.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48640" y="3429000"/>
            <a:ext cx="539496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350215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3A2F"/>
                </a:solidFill>
              </a:rPr>
              <a:t>(b) AI/ML Adaptive Difficulty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85800" y="3776472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</a:rPr>
              <a:t>Dynamically scale difficulty based on round-to-round patient accuracy.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48640" y="4343400"/>
            <a:ext cx="539496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441655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3A2F"/>
                </a:solidFill>
              </a:rPr>
              <a:t>(c) Offline &amp; Cross-Device Access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85800" y="4690872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</a:rPr>
              <a:t>Work seamlessly in low-connectivity areas with local caching &amp; sync.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48640" y="5257800"/>
            <a:ext cx="539496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533095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3A2F"/>
                </a:solidFill>
              </a:rPr>
              <a:t>(d) Multilingual Voice/Text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85800" y="5605272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</a:rPr>
              <a:t>Support local languages (Assamese, Hindi, NE languages) via voice STT/TTS.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217920" y="2514600"/>
            <a:ext cx="539496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55080" y="258775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3A2F"/>
                </a:solidFill>
              </a:rPr>
              <a:t>(e) Cognitive Decline Telemetry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355080" y="2862072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</a:rPr>
              <a:t>Longitudinal monitoring of accuracy, reaction speed, and memory trends.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217920" y="3429000"/>
            <a:ext cx="539496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55080" y="350215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3A2F"/>
                </a:solidFill>
              </a:rPr>
              <a:t>(f) Real-Time Red-Flag Alerts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355080" y="3776472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</a:rPr>
              <a:t>Instant caregiver notifications for missed medicines and routine lapses.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6217920" y="4343400"/>
            <a:ext cx="539496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55080" y="441655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3A2F"/>
                </a:solidFill>
              </a:rPr>
              <a:t>(g) Low-Barrier Senior UX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355080" y="4690872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</a:rPr>
              <a:t>Voice-first, WhatsApp chatbot, and oversized tactile touch targets.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6217920" y="5257800"/>
            <a:ext cx="539496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55080" y="533095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3A2F"/>
                </a:solidFill>
              </a:rPr>
              <a:t>(h) DPDP Act 2023 Compliance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6355080" y="5605272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</a:rPr>
              <a:t>Explicit photo consent, AES-256 encryption, 30-day erasure policy.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2011680" cy="292608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6576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SOLUTION PHILOSOPHY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713232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Barriers Framework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11430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Smriti’s architecture systematically eliminates structural healthcare hurdles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Smriti (স্মৃতি) • Team Design Divas • SIH26003 (MDoNER)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3566160" cy="4709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25400">
            <a:solidFill>
              <a:srgbClr val="C25E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1645920"/>
            <a:ext cx="3291840" cy="548640"/>
          </a:xfrm>
          <a:prstGeom prst="roundRect">
            <a:avLst>
              <a:gd name="adj" fmla="val 8333"/>
            </a:avLst>
          </a:prstGeom>
          <a:solidFill>
            <a:srgbClr val="FDF2EB"/>
          </a:solidFill>
          <a:ln w="12700">
            <a:solidFill>
              <a:srgbClr val="C25E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69164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25E2E"/>
                </a:solidFill>
              </a:rPr>
              <a:t>BARRIER 1: DIGITAL LITERACY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31520" y="192024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</a:rPr>
              <a:t>Elderly Seniors &amp; Cognitive Decline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731520" y="2331720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</a:rPr>
              <a:t>CHALLENGES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731520" y="2514600"/>
            <a:ext cx="3200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800" dirty="0">
                <a:solidFill>
                  <a:srgbClr val="334155"/>
                </a:solidFill>
              </a:rPr>
              <a:t>• Password fatigue &amp; forgotten logins</a:t>
            </a:r>
            <a:endParaRPr lang="en-US" sz="8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00" dirty="0">
                <a:solidFill>
                  <a:srgbClr val="334155"/>
                </a:solidFill>
              </a:rPr>
              <a:t>• Complex menu trees &amp; tiny buttons</a:t>
            </a:r>
            <a:endParaRPr lang="en-US" sz="8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00" dirty="0">
                <a:solidFill>
                  <a:srgbClr val="334155"/>
                </a:solidFill>
              </a:rPr>
              <a:t>• Anxiety navigating modern apps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31520" y="3794760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C25E2E"/>
                </a:solidFill>
              </a:rPr>
              <a:t>SMRITI ARCHITECTURAL SOLUTION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731520" y="4023360"/>
            <a:ext cx="32004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800" dirty="0">
                <a:solidFill>
                  <a:srgbClr val="0F172A"/>
                </a:solidFill>
              </a:rPr>
              <a:t>✓ Voice-First: Auto read-aloud everywhere</a:t>
            </a:r>
            <a:endParaRPr lang="en-US" sz="8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00" dirty="0">
                <a:solidFill>
                  <a:srgbClr val="0F172A"/>
                </a:solidFill>
              </a:rPr>
              <a:t>✓ WebAuthn 1-Tap Biometrics &amp; 4-digit PIN</a:t>
            </a:r>
            <a:endParaRPr lang="en-US" sz="8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00" dirty="0">
                <a:solidFill>
                  <a:srgbClr val="0F172A"/>
                </a:solidFill>
              </a:rPr>
              <a:t>✓ WhatsApp Companion Bot (wa.me)</a:t>
            </a:r>
            <a:endParaRPr lang="en-US" sz="8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00" dirty="0">
                <a:solidFill>
                  <a:srgbClr val="0F172A"/>
                </a:solidFill>
              </a:rPr>
              <a:t>✓ 56px touch targets &amp; warm contrast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297680" y="1508760"/>
            <a:ext cx="3566160" cy="4709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25400">
            <a:solidFill>
              <a:srgbClr val="1E40A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34840" y="1645920"/>
            <a:ext cx="3291840" cy="548640"/>
          </a:xfrm>
          <a:prstGeom prst="roundRect">
            <a:avLst>
              <a:gd name="adj" fmla="val 8333"/>
            </a:avLst>
          </a:prstGeom>
          <a:solidFill>
            <a:srgbClr val="EFF6F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80560" y="169164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40AF"/>
                </a:solidFill>
              </a:rPr>
              <a:t>BARRIER 2: CONNECTIVITY &amp; POWER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480560" y="192024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</a:rPr>
              <a:t>Intermittent 2G/3G in Remote NER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480560" y="2331720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</a:rPr>
              <a:t>CHALLENGES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480560" y="2514600"/>
            <a:ext cx="3200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800" dirty="0">
                <a:solidFill>
                  <a:srgbClr val="334155"/>
                </a:solidFill>
              </a:rPr>
              <a:t>• Frequent network drops in rural hills</a:t>
            </a:r>
            <a:endParaRPr lang="en-US" sz="8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00" dirty="0">
                <a:solidFill>
                  <a:srgbClr val="334155"/>
                </a:solidFill>
              </a:rPr>
              <a:t>• Data loss when routine completed offline</a:t>
            </a:r>
            <a:endParaRPr lang="en-US" sz="8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00" dirty="0">
                <a:solidFill>
                  <a:srgbClr val="334155"/>
                </a:solidFill>
              </a:rPr>
              <a:t>• Heavy apps failing on slow mobile data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480560" y="3794760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40AF"/>
                </a:solidFill>
              </a:rPr>
              <a:t>SMRITI ARCHITECTURAL SOLUTION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480560" y="4023360"/>
            <a:ext cx="32004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800" dirty="0">
                <a:solidFill>
                  <a:srgbClr val="0F172A"/>
                </a:solidFill>
              </a:rPr>
              <a:t>✓ Standalone PWA shell via Workbox</a:t>
            </a:r>
            <a:endParaRPr lang="en-US" sz="8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00" dirty="0">
                <a:solidFill>
                  <a:srgbClr val="0F172A"/>
                </a:solidFill>
              </a:rPr>
              <a:t>✓ IndexedDB: Caches profiles &amp; 10 routines</a:t>
            </a:r>
            <a:endParaRPr lang="en-US" sz="8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00" dirty="0">
                <a:solidFill>
                  <a:srgbClr val="0F172A"/>
                </a:solidFill>
              </a:rPr>
              <a:t>✓ Resilient Sync: Auto-sync on reconnect</a:t>
            </a:r>
            <a:endParaRPr lang="en-US" sz="8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00" dirty="0">
                <a:solidFill>
                  <a:srgbClr val="0F172A"/>
                </a:solidFill>
              </a:rPr>
              <a:t>✓ Lightweight sub-second bundle size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8046720" y="1508760"/>
            <a:ext cx="3566160" cy="4709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25400">
            <a:solidFill>
              <a:srgbClr val="1E3A2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183880" y="1645920"/>
            <a:ext cx="3291840" cy="548640"/>
          </a:xfrm>
          <a:prstGeom prst="roundRect">
            <a:avLst>
              <a:gd name="adj" fmla="val 8333"/>
            </a:avLst>
          </a:prstGeom>
          <a:solidFill>
            <a:srgbClr val="E6F4EA"/>
          </a:solidFill>
          <a:ln w="12700">
            <a:solidFill>
              <a:srgbClr val="1E3A2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29600" y="169164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A2F"/>
                </a:solidFill>
              </a:rPr>
              <a:t>BARRIER 3: LANGUAGE &amp; CULTURE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229600" y="192024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</a:rPr>
              <a:t>Western Tests Alienating Local Patients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2331720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</a:rPr>
              <a:t>CHALLENGES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8229600" y="2514600"/>
            <a:ext cx="3200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800" dirty="0">
                <a:solidFill>
                  <a:srgbClr val="334155"/>
                </a:solidFill>
              </a:rPr>
              <a:t>• Generic tests use foreign concepts</a:t>
            </a:r>
            <a:endParaRPr lang="en-US" sz="8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00" dirty="0">
                <a:solidFill>
                  <a:srgbClr val="334155"/>
                </a:solidFill>
              </a:rPr>
              <a:t>• High anxiety during formal clinical tests</a:t>
            </a:r>
            <a:endParaRPr lang="en-US" sz="8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00" dirty="0">
                <a:solidFill>
                  <a:srgbClr val="334155"/>
                </a:solidFill>
              </a:rPr>
              <a:t>• Lack of local North-Eastern dialects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8229600" y="3794760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3A2F"/>
                </a:solidFill>
              </a:rPr>
              <a:t>SMRITI ARCHITECTURAL SOLUTION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8229600" y="4023360"/>
            <a:ext cx="32004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800" dirty="0">
                <a:solidFill>
                  <a:srgbClr val="0F172A"/>
                </a:solidFill>
              </a:rPr>
              <a:t>✓ NER Themes: Kaji Nemu, Dhol, Tulsi</a:t>
            </a:r>
            <a:endParaRPr lang="en-US" sz="8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00" dirty="0">
                <a:solidFill>
                  <a:srgbClr val="0F172A"/>
                </a:solidFill>
              </a:rPr>
              <a:t>✓ Multilingual UI: EN, HI &amp; Assamese live</a:t>
            </a:r>
            <a:endParaRPr lang="en-US" sz="8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00" dirty="0">
                <a:solidFill>
                  <a:srgbClr val="0F172A"/>
                </a:solidFill>
              </a:rPr>
              <a:t>✓ Bhashini Architecture for NE dialects</a:t>
            </a:r>
            <a:endParaRPr lang="en-US" sz="8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00" dirty="0">
                <a:solidFill>
                  <a:srgbClr val="0F172A"/>
                </a:solidFill>
              </a:rPr>
              <a:t>✓ Family photo reminiscence therapy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2011680" cy="292608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6576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TECHNOLOGY STACK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713232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Full-Stack Architecture Specification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11430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Production-grade stack engineered for high responsiveness, resilience, and clinical reliability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Smriti (স্মৃতি) • Team Design Divas • SIH26003 (MDoNER)</a:t>
            </a:r>
            <a:endParaRPr lang="en-US" sz="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926080"/>
                <a:gridCol w="61264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LAYER / SUBSYSTEM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TECHNOLOGIES &amp; LIBS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KEY CAPABILITIES &amp; IMPLEMENTATION ROLE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2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172A"/>
                          </a:solidFill>
                        </a:rPr>
                        <a:t>Frontend UI / SPA</a:t>
                      </a:r>
                      <a:endParaRPr lang="en-US" sz="8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E3A2F"/>
                          </a:solidFill>
                        </a:rPr>
                        <a:t>React 19, Vite 8, React Router v7, Tailwind CSS v4</a:t>
                      </a:r>
                      <a:endParaRPr lang="en-US" sz="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</a:rPr>
                        <a:t>Sub-second rendering, tactile senior components, accessible 56px touch targets, warm theme.</a:t>
                      </a:r>
                      <a:endParaRPr lang="en-US" sz="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172A"/>
                          </a:solidFill>
                        </a:rPr>
                        <a:t>Backend Server</a:t>
                      </a:r>
                      <a:endParaRPr lang="en-US" sz="8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E3A2F"/>
                          </a:solidFill>
                        </a:rPr>
                        <a:t>Node.js, Express.js (v5), Node-Cron, Webhooks</a:t>
                      </a:r>
                      <a:endParaRPr lang="en-US" sz="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</a:rPr>
                        <a:t>REST API, WebAuthn challenge verification, JWT middleware, automated scheduled cron triggers.</a:t>
                      </a:r>
                      <a:endParaRPr lang="en-US" sz="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172A"/>
                          </a:solidFill>
                        </a:rPr>
                        <a:t>Database &amp; Storage</a:t>
                      </a:r>
                      <a:endParaRPr lang="en-US" sz="8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E3A2F"/>
                          </a:solidFill>
                        </a:rPr>
                        <a:t>MongoDB Atlas, Mongoose v9, IndexedDB (idb)</a:t>
                      </a:r>
                      <a:endParaRPr lang="en-US" sz="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</a:rPr>
                        <a:t>Document storage for Patient profiles, Reminders, Photos, and Game telemetry with offline sync.</a:t>
                      </a:r>
                      <a:endParaRPr lang="en-US" sz="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172A"/>
                          </a:solidFill>
                        </a:rPr>
                        <a:t>Conversational AI</a:t>
                      </a:r>
                      <a:endParaRPr lang="en-US" sz="8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E3A2F"/>
                          </a:solidFill>
                        </a:rPr>
                        <a:t>Google Gemini AI SDK (@google/genai)</a:t>
                      </a:r>
                      <a:endParaRPr lang="en-US" sz="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</a:rPr>
                        <a:t>Grounded in live MongoDB patient profile &amp; routine data for empathetic, hallucination-free support.</a:t>
                      </a:r>
                      <a:endParaRPr lang="en-US" sz="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172A"/>
                          </a:solidFill>
                        </a:rPr>
                        <a:t>ML Telemetry Engine</a:t>
                      </a:r>
                      <a:endParaRPr lang="en-US" sz="8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E3A2F"/>
                          </a:solidFill>
                        </a:rPr>
                        <a:t>Python FastAPIs on Render (Live Dedicated ML Service)</a:t>
                      </a:r>
                      <a:endParaRPr lang="en-US" sz="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</a:rPr>
                        <a:t>Endpoints /get_next_difficulty (adaptive starting level) &amp; /calculate_health_score (weekly index).</a:t>
                      </a:r>
                      <a:endParaRPr lang="en-US" sz="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172A"/>
                          </a:solidFill>
                        </a:rPr>
                        <a:t>Voice &amp; Audio</a:t>
                      </a:r>
                      <a:endParaRPr lang="en-US" sz="8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E3A2F"/>
                          </a:solidFill>
                        </a:rPr>
                        <a:t>Web Speech Synthesis &amp; Recognition API</a:t>
                      </a:r>
                      <a:endParaRPr lang="en-US" sz="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</a:rPr>
                        <a:t>Hands-free microphone voice queries and spoken audio read-aloud (Listen buttons) in EN/HI.</a:t>
                      </a:r>
                      <a:endParaRPr lang="en-US" sz="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172A"/>
                          </a:solidFill>
                        </a:rPr>
                        <a:t>Messaging Gateway</a:t>
                      </a:r>
                      <a:endParaRPr lang="en-US" sz="8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E3A2F"/>
                          </a:solidFill>
                        </a:rPr>
                        <a:t>Meta WhatsApp Business Cloud API (wa.me)</a:t>
                      </a:r>
                      <a:endParaRPr lang="en-US" sz="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</a:rPr>
                        <a:t>Consolidated daily routine alerts, automated "DONE" response parsing &amp; bi-directional bot check-ins.</a:t>
                      </a:r>
                      <a:endParaRPr lang="en-US" sz="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172A"/>
                          </a:solidFill>
                        </a:rPr>
                        <a:t>Offline PWA</a:t>
                      </a:r>
                      <a:endParaRPr lang="en-US" sz="8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E3A2F"/>
                          </a:solidFill>
                        </a:rPr>
                        <a:t>vite-plugin-pwa, Workbox Service Worker</a:t>
                      </a:r>
                      <a:endParaRPr lang="en-US" sz="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</a:rPr>
                        <a:t>Complete standalone app caching, background action sync queue, offline routine checklist.</a:t>
                      </a:r>
                      <a:endParaRPr lang="en-US" sz="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172A"/>
                          </a:solidFill>
                        </a:rPr>
                        <a:t>Auth &amp; Governance</a:t>
                      </a:r>
                      <a:endParaRPr lang="en-US" sz="8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E3A2F"/>
                          </a:solidFill>
                        </a:rPr>
                        <a:t>WebAuthn (FIDO2), JWT (365-day), DPDP Act 2023</a:t>
                      </a:r>
                      <a:endParaRPr lang="en-US" sz="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</a:rPr>
                        <a:t>Biometric 1-tap login, explicit photo upload consent, AES-256 encryption, Grievance Officer.</a:t>
                      </a:r>
                      <a:endParaRPr lang="en-US" sz="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2011680" cy="292608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6576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PATIENT PORTAL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713232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Senior-Centric Patient Experience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11430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Empowering independence through accessible design, time-aware horizons, and multi-modal guidance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Smriti (স্মৃতি) • Team Design Divas • SIH26003 (MDoNER)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48640" y="1554480"/>
            <a:ext cx="35661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1691640"/>
            <a:ext cx="1097280" cy="228600"/>
          </a:xfrm>
          <a:prstGeom prst="rect">
            <a:avLst/>
          </a:prstGeom>
          <a:solidFill>
            <a:srgbClr val="FDF2EB"/>
          </a:solidFill>
          <a:ln w="6350">
            <a:solidFill>
              <a:srgbClr val="C25E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6916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C25E2E"/>
                </a:solidFill>
              </a:rPr>
              <a:t>ENGAGEMENT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685800" y="1993392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</a:rPr>
              <a:t>🎮 Games-First Dashboard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85800" y="2359152"/>
            <a:ext cx="32918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850" dirty="0">
                <a:solidFill>
                  <a:srgbClr val="334155"/>
                </a:solidFill>
              </a:rPr>
              <a:t>Prominently features cognitive games right on the home screen to encourage daily brain engagement before daily routines.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297680" y="1554480"/>
            <a:ext cx="35661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34840" y="1691640"/>
            <a:ext cx="1097280" cy="228600"/>
          </a:xfrm>
          <a:prstGeom prst="rect">
            <a:avLst/>
          </a:prstGeom>
          <a:solidFill>
            <a:srgbClr val="FDF2EB"/>
          </a:solidFill>
          <a:ln w="6350">
            <a:solidFill>
              <a:srgbClr val="C25E2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34840" y="16916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C25E2E"/>
                </a:solidFill>
              </a:rPr>
              <a:t>ADHERENCE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4434840" y="1993392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</a:rPr>
              <a:t>⏰ Time-Aware Horizon Routines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434840" y="2359152"/>
            <a:ext cx="32918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850" dirty="0">
                <a:solidFill>
                  <a:srgbClr val="334155"/>
                </a:solidFill>
              </a:rPr>
              <a:t>Smart time segmentation (Morning, Afternoon, Evening, Night) automatically surfaces active medications and hydration goals.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8046720" y="1554480"/>
            <a:ext cx="35661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83880" y="1691640"/>
            <a:ext cx="1097280" cy="228600"/>
          </a:xfrm>
          <a:prstGeom prst="rect">
            <a:avLst/>
          </a:prstGeom>
          <a:solidFill>
            <a:srgbClr val="FDF2EB"/>
          </a:solidFill>
          <a:ln w="6350">
            <a:solidFill>
              <a:srgbClr val="C25E2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183880" y="16916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C25E2E"/>
                </a:solidFill>
              </a:rPr>
              <a:t>ACCESSIBILITY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8183880" y="1993392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</a:rPr>
              <a:t>🔊 Universal Spoken Audio (Listen)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183880" y="2359152"/>
            <a:ext cx="32918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850" dirty="0">
                <a:solidFill>
                  <a:srgbClr val="334155"/>
                </a:solidFill>
              </a:rPr>
              <a:t>Every card and reminder features a high-contrast [🔊 Listen] button powered by Web Speech API for low-literacy seniors.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48640" y="3840480"/>
            <a:ext cx="35661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5800" y="3977640"/>
            <a:ext cx="1097280" cy="228600"/>
          </a:xfrm>
          <a:prstGeom prst="rect">
            <a:avLst/>
          </a:prstGeom>
          <a:solidFill>
            <a:srgbClr val="FDF2EB"/>
          </a:solidFill>
          <a:ln w="6350">
            <a:solidFill>
              <a:srgbClr val="C25E2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5800" y="39776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C25E2E"/>
                </a:solidFill>
              </a:rPr>
              <a:t>CONVERSATIONAL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685800" y="4279392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</a:rPr>
              <a:t>🤖 Grounded Gemini AI Companion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85800" y="4645152"/>
            <a:ext cx="32918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850" dirty="0">
                <a:solidFill>
                  <a:srgbClr val="334155"/>
                </a:solidFill>
              </a:rPr>
              <a:t>Floating sparkle assistant with voice STT/TTS, answering health and schedule questions grounded in real patient data.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297680" y="3840480"/>
            <a:ext cx="35661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34840" y="3977640"/>
            <a:ext cx="1097280" cy="228600"/>
          </a:xfrm>
          <a:prstGeom prst="rect">
            <a:avLst/>
          </a:prstGeom>
          <a:solidFill>
            <a:srgbClr val="FDF2EB"/>
          </a:solidFill>
          <a:ln w="6350">
            <a:solidFill>
              <a:srgbClr val="C25E2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434840" y="39776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C25E2E"/>
                </a:solidFill>
              </a:rPr>
              <a:t>COMMUNICATION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4434840" y="4279392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</a:rPr>
              <a:t>📱 Direct WhatsApp Bridge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434840" y="4645152"/>
            <a:ext cx="32918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850" dirty="0">
                <a:solidFill>
                  <a:srgbClr val="334155"/>
                </a:solidFill>
              </a:rPr>
              <a:t>1-Tap launch button connecting seniors to the Smriti WhatsApp companion bot without navigating phone address books.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8046720" y="3840480"/>
            <a:ext cx="35661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183880" y="3977640"/>
            <a:ext cx="1097280" cy="228600"/>
          </a:xfrm>
          <a:prstGeom prst="rect">
            <a:avLst/>
          </a:prstGeom>
          <a:solidFill>
            <a:srgbClr val="FDF2EB"/>
          </a:solidFill>
          <a:ln w="6350">
            <a:solidFill>
              <a:srgbClr val="C25E2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183880" y="39776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C25E2E"/>
                </a:solidFill>
              </a:rPr>
              <a:t>SECURITY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8183880" y="4279392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</a:rPr>
              <a:t>🔐 Frictionless Senior Auth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8183880" y="4645152"/>
            <a:ext cx="32918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850" dirty="0">
                <a:solidFill>
                  <a:srgbClr val="334155"/>
                </a:solidFill>
              </a:rPr>
              <a:t>1-Tap hardware biometric fingerprint/Face ID login or simplified 4-digit PIN pad with persistent 365-day sessions.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2011680" cy="292608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6576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COGNITIVE SUITE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713232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5 Culturally Attuned Cognitive Games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11430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Culturally familiar Indian &amp; North-Eastern themes designed to maximize reminiscence and clinical telemetry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Smriti (স্মৃতি) • Team Design Divas • SIH26003 (MDoNER)</a:t>
            </a:r>
            <a:endParaRPr lang="en-US" sz="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286000"/>
                <a:gridCol w="3108960"/>
                <a:gridCol w="32918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GAME TITLE</a:t>
                      </a:r>
                      <a:endParaRPr lang="en-US" sz="8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COGNITIVE DOMAIN</a:t>
                      </a:r>
                      <a:endParaRPr lang="en-US" sz="8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CULTURAL CONTEXT (NER THEME)</a:t>
                      </a:r>
                      <a:endParaRPr lang="en-US" sz="8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CLINICAL GOAL &amp; MECHANICS</a:t>
                      </a:r>
                      <a:endParaRPr lang="en-US" sz="8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2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</a:rPr>
                        <a:t>Market Day Basket</a:t>
                      </a:r>
                      <a:endParaRPr lang="en-US" sz="800" dirty="0"/>
                    </a:p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</a:rPr>
                        <a:t>(বজাৰৰ পাচি / बाज़ार की टोकरी)</a:t>
                      </a:r>
                      <a:endParaRPr lang="en-US" sz="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C25E2E"/>
                          </a:solidFill>
                        </a:rPr>
                        <a:t>Categorization, Visual Recall &amp; Mental Math</a:t>
                      </a:r>
                      <a:endParaRPr lang="en-US" sz="7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1E3A2F"/>
                          </a:solidFill>
                        </a:rPr>
                        <a:t>10 North-East produce items: Kaji Nemu, King Chilli (Bhut Jolokia), Assam Tea, Bamboo Shoot, Lai Xaak.</a:t>
                      </a:r>
                      <a:endParaRPr lang="en-US" sz="7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34155"/>
                          </a:solidFill>
                        </a:rPr>
                        <a:t>Scales item count dynamically. Evaluates visual memory retention and price summation accuracy.</a:t>
                      </a:r>
                      <a:endParaRPr lang="en-US" sz="7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</a:rPr>
                        <a:t>Daily Routine Sequencer</a:t>
                      </a:r>
                      <a:endParaRPr lang="en-US" sz="800" dirty="0"/>
                    </a:p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</a:rPr>
                        <a:t>(दैनिक दिनचर्या क्रम)</a:t>
                      </a:r>
                      <a:endParaRPr lang="en-US" sz="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C25E2E"/>
                          </a:solidFill>
                        </a:rPr>
                        <a:t>Executive Function &amp; Logical Step Sequencing</a:t>
                      </a:r>
                      <a:endParaRPr lang="en-US" sz="7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1E3A2F"/>
                          </a:solidFill>
                        </a:rPr>
                        <a:t>Familiar Indian morning routines: Brewing Assam tea, watering sacred Tulsi plant, morning bath.</a:t>
                      </a:r>
                      <a:endParaRPr lang="en-US" sz="7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34155"/>
                          </a:solidFill>
                        </a:rPr>
                        <a:t>Measures chronological reasoning, step ordering logic, hesitation time, and error correction rates.</a:t>
                      </a:r>
                      <a:endParaRPr lang="en-US" sz="7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</a:rPr>
                        <a:t>Faces &amp; Family Recall</a:t>
                      </a:r>
                      <a:endParaRPr lang="en-US" sz="800" dirty="0"/>
                    </a:p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</a:rPr>
                        <a:t>(চেহৰা আৰু পৰিয়াল / चेहरे और परिवार)</a:t>
                      </a:r>
                      <a:endParaRPr lang="en-US" sz="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C25E2E"/>
                          </a:solidFill>
                        </a:rPr>
                        <a:t>Reminiscence Therapy &amp; Facial Memory</a:t>
                      </a:r>
                      <a:endParaRPr lang="en-US" sz="7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1E3A2F"/>
                          </a:solidFill>
                        </a:rPr>
                        <a:t>Real family member portraits, generational relationships (Grandson, Daughter, Spouse), and ancestral memories.</a:t>
                      </a:r>
                      <a:endParaRPr lang="en-US" sz="7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34155"/>
                          </a:solidFill>
                        </a:rPr>
                        <a:t>Reinforces facial recognition, reduces caregiver alienation, and tracks associative recall latency.</a:t>
                      </a:r>
                      <a:endParaRPr lang="en-US" sz="7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</a:rPr>
                        <a:t>Sound &amp; Rhythm Match</a:t>
                      </a:r>
                      <a:endParaRPr lang="en-US" sz="800" dirty="0"/>
                    </a:p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</a:rPr>
                        <a:t>(শব্দ আৰু ছন্দ / ध्वनि और लय)</a:t>
                      </a:r>
                      <a:endParaRPr lang="en-US" sz="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C25E2E"/>
                          </a:solidFill>
                        </a:rPr>
                        <a:t>Auditory Perception &amp; Pattern Memory</a:t>
                      </a:r>
                      <a:endParaRPr lang="en-US" sz="7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1E3A2F"/>
                          </a:solidFill>
                        </a:rPr>
                        <a:t>Authentic regional instruments: Bihu Dhol, Pepa flute, Temple Bell, Shankha, Mridangam.</a:t>
                      </a:r>
                      <a:endParaRPr lang="en-US" sz="7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34155"/>
                          </a:solidFill>
                        </a:rPr>
                        <a:t>Tests auditory sequence repetition, musical cadence recognition, and rhythmic reaction timing.</a:t>
                      </a:r>
                      <a:endParaRPr lang="en-US" sz="7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</a:rPr>
                        <a:t>Odd One Out</a:t>
                      </a:r>
                      <a:endParaRPr lang="en-US" sz="800" dirty="0"/>
                    </a:p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</a:rPr>
                        <a:t>(সুকীয়া বস্তু বাছনি / अलग पहचानें)</a:t>
                      </a:r>
                      <a:endParaRPr lang="en-US" sz="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C25E2E"/>
                          </a:solidFill>
                        </a:rPr>
                        <a:t>Semantic Discrimination &amp; Category Boundaries</a:t>
                      </a:r>
                      <a:endParaRPr lang="en-US" sz="7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1E3A2F"/>
                          </a:solidFill>
                        </a:rPr>
                        <a:t>Indigenous flora, fauna, traditional kitchen tools (Japi, Xorai), and cultural festival elements.</a:t>
                      </a:r>
                      <a:endParaRPr lang="en-US" sz="7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34155"/>
                          </a:solidFill>
                        </a:rPr>
                        <a:t>Detects semantic anomaly discrimination, visual processing latency, and category boundary confusion.</a:t>
                      </a:r>
                      <a:endParaRPr lang="en-US" sz="7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2011680" cy="292608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6576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CAREGIVER PORTAL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713232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Caregiver Command Center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11430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supervision, compliance tracking, and longitudinal cognitive analytics for clinicians &amp; families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Smriti (স্মৃতি) • Team Design Divas • SIH26003 (MDoNER)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48640" y="1554480"/>
            <a:ext cx="539496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25400">
            <a:solidFill>
              <a:srgbClr val="C25E2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9164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</a:rPr>
              <a:t>🚨 Real-Time Red Flag Alerts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201168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4748B"/>
                </a:solidFill>
              </a:rPr>
              <a:t>Instant Intervention for Lapsed Medication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731520" y="2331720"/>
            <a:ext cx="5029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850" dirty="0">
                <a:solidFill>
                  <a:srgbClr val="334155"/>
                </a:solidFill>
              </a:rPr>
              <a:t>• Real-time detection of unacknowledged critical prescriptions</a:t>
            </a:r>
            <a:endParaRPr lang="en-US" sz="8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850" dirty="0">
                <a:solidFill>
                  <a:srgbClr val="334155"/>
                </a:solidFill>
              </a:rPr>
              <a:t>• 1-Tap direct phone call button to immediately reach the patient</a:t>
            </a:r>
            <a:endParaRPr lang="en-US" sz="8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850" dirty="0">
                <a:solidFill>
                  <a:srgbClr val="334155"/>
                </a:solidFill>
              </a:rPr>
              <a:t>• Database-persisted dismissal audit log with clinician acknowledgement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17920" y="1554480"/>
            <a:ext cx="539496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25400">
            <a:solidFill>
              <a:srgbClr val="1E40A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0" y="169164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</a:rPr>
              <a:t>📊 7-Day Adherence Analytics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0" y="201168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4748B"/>
                </a:solidFill>
              </a:rPr>
              <a:t>Deterministic Compliance Charts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400800" y="2331720"/>
            <a:ext cx="5029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850" dirty="0">
                <a:solidFill>
                  <a:srgbClr val="334155"/>
                </a:solidFill>
              </a:rPr>
              <a:t>• Longitudinal line charts tracking medication &amp; hydration completion</a:t>
            </a:r>
            <a:endParaRPr lang="en-US" sz="8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850" dirty="0">
                <a:solidFill>
                  <a:srgbClr val="334155"/>
                </a:solidFill>
              </a:rPr>
              <a:t>• 10-slot customizable routine editor with time-of-day scheduling</a:t>
            </a:r>
            <a:endParaRPr lang="en-US" sz="8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850" dirty="0">
                <a:solidFill>
                  <a:srgbClr val="334155"/>
                </a:solidFill>
              </a:rPr>
              <a:t>• Exportable clinical compliance logs for attending neurologists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548640" y="4023360"/>
            <a:ext cx="539496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25400">
            <a:solidFill>
              <a:srgbClr val="1E3A2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416052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</a:rPr>
              <a:t>🧠 Cognitive Telemetry Dashboard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448056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4748B"/>
                </a:solidFill>
              </a:rPr>
              <a:t>Longitudinal Session Insights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731520" y="4800600"/>
            <a:ext cx="5029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850" dirty="0">
                <a:solidFill>
                  <a:srgbClr val="334155"/>
                </a:solidFill>
              </a:rPr>
              <a:t>• Deep analytics tracking reaction speed, hesitation time, and accuracy</a:t>
            </a:r>
            <a:endParaRPr lang="en-US" sz="8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850" dirty="0">
                <a:solidFill>
                  <a:srgbClr val="334155"/>
                </a:solidFill>
              </a:rPr>
              <a:t>• Game-by-game breakdown across all 5 cognitive domains</a:t>
            </a:r>
            <a:endParaRPr lang="en-US" sz="8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850" dirty="0">
                <a:solidFill>
                  <a:srgbClr val="334155"/>
                </a:solidFill>
              </a:rPr>
              <a:t>• Weekly Composite Cognitive Health index powered by AI ML API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6217920" y="4023360"/>
            <a:ext cx="539496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25400">
            <a:solidFill>
              <a:srgbClr val="D9770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0" y="416052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</a:rPr>
              <a:t>👥 Multi-Patient Roster Management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00800" y="448056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4748B"/>
                </a:solidFill>
              </a:rPr>
              <a:t>Clinic &amp; Hospital Multi-Tenancy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400800" y="4800600"/>
            <a:ext cx="5029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850" dirty="0">
                <a:solidFill>
                  <a:srgbClr val="334155"/>
                </a:solidFill>
              </a:rPr>
              <a:t>• Caregivers monitor multiple distinct patients across NER clinics</a:t>
            </a:r>
            <a:endParaRPr lang="en-US" sz="8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850" dirty="0">
                <a:solidFill>
                  <a:srgbClr val="334155"/>
                </a:solidFill>
              </a:rPr>
              <a:t>• Strict per-caregiver data isolation with role-scoped JWT security</a:t>
            </a:r>
            <a:endParaRPr lang="en-US" sz="8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850" dirty="0">
                <a:solidFill>
                  <a:srgbClr val="334155"/>
                </a:solidFill>
              </a:rPr>
              <a:t>• Rapid patient profile switching with individual photo galleries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2011680" cy="292608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6576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MULTI-CHANNEL OUTREACH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713232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Companion Bot (Meta Cloud API)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11430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elderly patients on their most familiar messaging application without requiring app navigation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Smriti (স্মৃতি) • Team Design Divas • SIH26003 (MDoNER)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48640" y="1554480"/>
            <a:ext cx="4754880" cy="4572000"/>
          </a:xfrm>
          <a:prstGeom prst="roundRect">
            <a:avLst>
              <a:gd name="adj" fmla="val 2000"/>
            </a:avLst>
          </a:prstGeom>
          <a:solidFill>
            <a:srgbClr val="E6F4EA"/>
          </a:solidFill>
          <a:ln w="19050">
            <a:solidFill>
              <a:srgbClr val="1E3A2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9164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3A2F"/>
                </a:solidFill>
              </a:rPr>
              <a:t>💬 WHATSAPP BOT WORKFLOW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31520" y="2057400"/>
            <a:ext cx="438912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0F172A"/>
                </a:solidFill>
              </a:rPr>
              <a:t>1. Node-Cron Daily Trigger</a:t>
            </a:r>
            <a:endParaRPr lang="en-US" sz="8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0F172A"/>
                </a:solidFill>
              </a:rPr>
              <a:t>   Evaluates patient schedule times (09:00, 14:00, 20:00).</a:t>
            </a:r>
            <a:endParaRPr lang="en-US" sz="850" dirty="0"/>
          </a:p>
          <a:p>
            <a:pPr indent="0" marL="0">
              <a:lnSpc>
                <a:spcPts val="1400"/>
              </a:lnSpc>
              <a:buNone/>
            </a:pPr>
            <a:endParaRPr lang="en-US" sz="8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0F172A"/>
                </a:solidFill>
              </a:rPr>
              <a:t>2. Meta Cloud API Outbound Dispatch</a:t>
            </a:r>
            <a:endParaRPr lang="en-US" sz="8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0F172A"/>
                </a:solidFill>
              </a:rPr>
              <a:t>   Sends consolidated WhatsApp reminder to patient phone.</a:t>
            </a:r>
            <a:endParaRPr lang="en-US" sz="850" dirty="0"/>
          </a:p>
          <a:p>
            <a:pPr indent="0" marL="0">
              <a:lnSpc>
                <a:spcPts val="1400"/>
              </a:lnSpc>
              <a:buNone/>
            </a:pPr>
            <a:endParaRPr lang="en-US" sz="8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0F172A"/>
                </a:solidFill>
              </a:rPr>
              <a:t>3. 1-Tap Link (wa.me/15556680031)</a:t>
            </a:r>
            <a:endParaRPr lang="en-US" sz="8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0F172A"/>
                </a:solidFill>
              </a:rPr>
              <a:t>   Patient receives reminder or initiates chat directly.</a:t>
            </a:r>
            <a:endParaRPr lang="en-US" sz="850" dirty="0"/>
          </a:p>
          <a:p>
            <a:pPr indent="0" marL="0">
              <a:lnSpc>
                <a:spcPts val="1400"/>
              </a:lnSpc>
              <a:buNone/>
            </a:pPr>
            <a:endParaRPr lang="en-US" sz="8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0F172A"/>
                </a:solidFill>
              </a:rPr>
              <a:t>4. Automated "DONE" Acknowledgment</a:t>
            </a:r>
            <a:endParaRPr lang="en-US" sz="8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0F172A"/>
                </a:solidFill>
              </a:rPr>
              <a:t>   Replying "Done", "Ho gaya" or "হ’ল" ticks routine in DB.</a:t>
            </a:r>
            <a:endParaRPr lang="en-US" sz="850" dirty="0"/>
          </a:p>
          <a:p>
            <a:pPr indent="0" marL="0">
              <a:lnSpc>
                <a:spcPts val="1400"/>
              </a:lnSpc>
              <a:buNone/>
            </a:pPr>
            <a:endParaRPr lang="en-US" sz="8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0F172A"/>
                </a:solidFill>
              </a:rPr>
              <a:t>5. Multi-Turn Gemini AI Webhook</a:t>
            </a:r>
            <a:endParaRPr lang="en-US" sz="8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0F172A"/>
                </a:solidFill>
              </a:rPr>
              <a:t>   Natural conversational Q&amp;A grounded in patient context.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577840" y="1554480"/>
            <a:ext cx="60350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760720" y="1691640"/>
            <a:ext cx="5669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3A2F"/>
                </a:solidFill>
              </a:rPr>
              <a:t>✓ Zero-Friction Routine Check-Ins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760720" y="2011680"/>
            <a:ext cx="5669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334155"/>
                </a:solidFill>
              </a:rPr>
              <a:t>Consolidated daily routine schedules sent right to WhatsApp. Elderly users do not need to remember URLs or passwords.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577840" y="3063240"/>
            <a:ext cx="60350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60720" y="3200400"/>
            <a:ext cx="5669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3A2F"/>
                </a:solidFill>
              </a:rPr>
              <a:t>✓ Bidirectional Adherence Synchronization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760720" y="3520440"/>
            <a:ext cx="5669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334155"/>
                </a:solidFill>
              </a:rPr>
              <a:t>When a senior marks a medicine done via WhatsApp, the Caregiver Command Center updates instantaneously in real time.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577840" y="4572000"/>
            <a:ext cx="60350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760720" y="4709160"/>
            <a:ext cx="5669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3A2F"/>
                </a:solidFill>
              </a:rPr>
              <a:t>✓ Empathetic Conversational Care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760720" y="5029200"/>
            <a:ext cx="5669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334155"/>
                </a:solidFill>
              </a:rPr>
              <a:t>Powered by Gemini AI webhook integration, providing warm reassurance, memory prompts, and calming guidance.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2011680" cy="292608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6576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AI &amp; ML SYSTEMS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713232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AI &amp; Machine Learning Architecture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11430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Rigorous, honest, and production-integrated AI systems for personalization and cognitive scoring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Smriti (স্মৃতি) • Team Design Divas • SIH26003 (MDoNER)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48640" y="1554480"/>
            <a:ext cx="539496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25400">
            <a:solidFill>
              <a:srgbClr val="1E40A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691640"/>
            <a:ext cx="1645920" cy="201168"/>
          </a:xfrm>
          <a:prstGeom prst="rect">
            <a:avLst/>
          </a:prstGeom>
          <a:solidFill>
            <a:srgbClr val="EFF6FF"/>
          </a:solidFill>
          <a:ln w="6350">
            <a:solidFill>
              <a:srgbClr val="1E40A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691640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E40AF"/>
                </a:solidFill>
              </a:rPr>
              <a:t>CONVERSATIONAL LLM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731520" y="193852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</a:rPr>
              <a:t>🤖 GOOGLE GEMINI AI (LIVE)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31520" y="2267712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800" dirty="0">
                <a:solidFill>
                  <a:srgbClr val="334155"/>
                </a:solidFill>
              </a:rPr>
              <a:t>• In-app conversational companion powered by @google/genai SDK</a:t>
            </a:r>
            <a:endParaRPr lang="en-US" sz="8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00" dirty="0">
                <a:solidFill>
                  <a:srgbClr val="334155"/>
                </a:solidFill>
              </a:rPr>
              <a:t>• Real-time Memory Grounding: Injects MongoDB patient records (active medications, daily routines, family relations)</a:t>
            </a:r>
            <a:endParaRPr lang="en-US" sz="8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00" dirty="0">
                <a:solidFill>
                  <a:srgbClr val="334155"/>
                </a:solidFill>
              </a:rPr>
              <a:t>• Empathetic Dementia Guardrails: Calming tone, simple sentences, no hallucinated medical advice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6217920" y="1554480"/>
            <a:ext cx="539496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25400">
            <a:solidFill>
              <a:srgbClr val="1E3A2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0" y="1691640"/>
            <a:ext cx="1645920" cy="201168"/>
          </a:xfrm>
          <a:prstGeom prst="rect">
            <a:avLst/>
          </a:prstGeom>
          <a:solidFill>
            <a:srgbClr val="E6F4EA"/>
          </a:solidFill>
          <a:ln w="6350">
            <a:solidFill>
              <a:srgbClr val="1E3A2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0" y="1691640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E3A2F"/>
                </a:solidFill>
              </a:rPr>
              <a:t>ADAPTIVE SCORING API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6400800" y="193852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</a:rPr>
              <a:t>⚙️ DEDICATED ML ENGINE ON RENDER (LIVE)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400800" y="2267712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800" dirty="0">
                <a:solidFill>
                  <a:srgbClr val="334155"/>
                </a:solidFill>
              </a:rPr>
              <a:t>• Hosted at https://dementia-ai-engine.onrender.com (Live Integration)</a:t>
            </a:r>
            <a:endParaRPr lang="en-US" sz="8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00" dirty="0">
                <a:solidFill>
                  <a:srgbClr val="334155"/>
                </a:solidFill>
              </a:rPr>
              <a:t>• POST /get_next_difficulty: Evaluates past session history to set adaptive starting difficulty (e.g. starting item count 3 vs 4 vs 5)</a:t>
            </a:r>
            <a:endParaRPr lang="en-US" sz="8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00" dirty="0">
                <a:solidFill>
                  <a:srgbClr val="334155"/>
                </a:solidFill>
              </a:rPr>
              <a:t>• POST /calculate_health_score: Computes 0-100 composite cognitive health index from reaction time, memory recall, and accuracy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548640" y="4023360"/>
            <a:ext cx="539496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25400">
            <a:solidFill>
              <a:srgbClr val="C25E2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" y="4160520"/>
            <a:ext cx="1645920" cy="201168"/>
          </a:xfrm>
          <a:prstGeom prst="rect">
            <a:avLst/>
          </a:prstGeom>
          <a:solidFill>
            <a:srgbClr val="FDF2EB"/>
          </a:solidFill>
          <a:ln w="6350">
            <a:solidFill>
              <a:srgbClr val="C25E2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4160520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C25E2E"/>
                </a:solidFill>
              </a:rPr>
              <a:t>REAL-TIME SCALING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731520" y="440740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</a:rPr>
              <a:t>🔄 WITHIN-SESSION ACCURACY ADAPTATION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31520" y="4736592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800" dirty="0">
                <a:solidFill>
                  <a:srgbClr val="334155"/>
                </a:solidFill>
              </a:rPr>
              <a:t>• Round-to-round dynamic difficulty adjustment directly during gameplay</a:t>
            </a:r>
            <a:endParaRPr lang="en-US" sz="8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00" dirty="0">
                <a:solidFill>
                  <a:srgbClr val="334155"/>
                </a:solidFill>
              </a:rPr>
              <a:t>• Low accuracy (&lt;60%) triggers automatic deceleration &amp; prompt hints</a:t>
            </a:r>
            <a:endParaRPr lang="en-US" sz="8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00" dirty="0">
                <a:solidFill>
                  <a:srgbClr val="334155"/>
                </a:solidFill>
              </a:rPr>
              <a:t>• High accuracy (&gt;85%) progressively introduces more complex item sets</a:t>
            </a:r>
            <a:endParaRPr lang="en-US" sz="8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00" dirty="0">
                <a:solidFill>
                  <a:srgbClr val="334155"/>
                </a:solidFill>
              </a:rPr>
              <a:t>• Offline Fallback: Deterministic heuristic calibration if API is offline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6217920" y="4023360"/>
            <a:ext cx="539496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25400">
            <a:solidFill>
              <a:srgbClr val="D9770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00800" y="4160520"/>
            <a:ext cx="1645920" cy="201168"/>
          </a:xfrm>
          <a:prstGeom prst="rect">
            <a:avLst/>
          </a:prstGeom>
          <a:solidFill>
            <a:srgbClr val="FEF3C7"/>
          </a:solidFill>
          <a:ln w="6350">
            <a:solidFill>
              <a:srgbClr val="D9770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0" y="4160520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D97706"/>
                </a:solidFill>
              </a:rPr>
              <a:t>CLINICAL RIGOR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6400800" y="440740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</a:rPr>
              <a:t>📊 ANALYTICS TRANSPARENCY &amp; CLASSIFICATION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400800" y="4736592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800" dirty="0">
                <a:solidFill>
                  <a:srgbClr val="334155"/>
                </a:solidFill>
              </a:rPr>
              <a:t>• 7-Day Adherence Line Chart: Explicitly classified as deterministic MongoDB calculation from real daily routine completion logs</a:t>
            </a:r>
            <a:endParaRPr lang="en-US" sz="8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00" dirty="0">
                <a:solidFill>
                  <a:srgbClr val="334155"/>
                </a:solidFill>
              </a:rPr>
              <a:t>• Honest Separation: Clear demarcation between deterministic adherence telemetry and predictive/adaptive ML models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2011680" cy="292608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6576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INCLUSIVITY &amp; LANGUAGES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713232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Access &amp; Bhashini Integration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11430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Bridging linguistic diversity across North-East India through regional speech models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Smriti (স্মৃতি) • Team Design Divas • SIH26003 (MDoNER)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48640" y="1554480"/>
            <a:ext cx="5394960" cy="4572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25400">
            <a:solidFill>
              <a:srgbClr val="1E3A2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916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2F"/>
                </a:solidFill>
              </a:rPr>
              <a:t>🟢 CURRENT PRODUCTION STATE (LIVE)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2057400"/>
            <a:ext cx="502920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0F172A"/>
                </a:solidFill>
              </a:rPr>
              <a:t>✓ Web Speech API (Voice Synthesis &amp; Recognition)</a:t>
            </a:r>
            <a:endParaRPr lang="en-US" sz="8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0F172A"/>
                </a:solidFill>
              </a:rPr>
              <a:t>   Natural speech read-aloud and hands-free microphone input for English and Hindi (hi-IN) across all pages.</a:t>
            </a:r>
            <a:endParaRPr lang="en-US" sz="850" dirty="0"/>
          </a:p>
          <a:p>
            <a:pPr indent="0" marL="0">
              <a:lnSpc>
                <a:spcPts val="1400"/>
              </a:lnSpc>
              <a:buNone/>
            </a:pPr>
            <a:endParaRPr lang="en-US" sz="8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0F172A"/>
                </a:solidFill>
              </a:rPr>
              <a:t>✓ Assamese (অসমীয়া) UI Localization</a:t>
            </a:r>
            <a:endParaRPr lang="en-US" sz="8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0F172A"/>
                </a:solidFill>
              </a:rPr>
              <a:t>   Complete internationalization covering patient navigation, reminders, routines, and cognitive game prompts.</a:t>
            </a:r>
            <a:endParaRPr lang="en-US" sz="850" dirty="0"/>
          </a:p>
          <a:p>
            <a:pPr indent="0" marL="0">
              <a:lnSpc>
                <a:spcPts val="1400"/>
              </a:lnSpc>
              <a:buNone/>
            </a:pPr>
            <a:endParaRPr lang="en-US" sz="8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0F172A"/>
                </a:solidFill>
              </a:rPr>
              <a:t>✓ Tactile Visual Signifiers</a:t>
            </a:r>
            <a:endParaRPr lang="en-US" sz="8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0F172A"/>
                </a:solidFill>
              </a:rPr>
              <a:t>   Iconography, high-contrast color badges, and phonetic labels enabling non-readers to operate the app effortlessly.</a:t>
            </a:r>
            <a:endParaRPr lang="en-US" sz="850" dirty="0"/>
          </a:p>
          <a:p>
            <a:pPr indent="0" marL="0">
              <a:lnSpc>
                <a:spcPts val="1400"/>
              </a:lnSpc>
              <a:buNone/>
            </a:pPr>
            <a:endParaRPr lang="en-US" sz="8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0F172A"/>
                </a:solidFill>
              </a:rPr>
              <a:t>✓ Resilient Audio Fallback</a:t>
            </a:r>
            <a:endParaRPr lang="en-US" sz="8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0F172A"/>
                </a:solidFill>
              </a:rPr>
              <a:t>   Gracefully handles browser audio engine variances across Android, iOS, and desktop browsers.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217920" y="1554480"/>
            <a:ext cx="5394960" cy="4572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25400">
            <a:solidFill>
              <a:srgbClr val="C25E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16916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25E2E"/>
                </a:solidFill>
              </a:rPr>
              <a:t>🚀 BHASHINI INTEGRATION (IN PROGRESS)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0" y="2057400"/>
            <a:ext cx="502920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334155"/>
                </a:solidFill>
              </a:rPr>
              <a:t>⚡ Digital India Bhashini ULCA Pipeline</a:t>
            </a:r>
            <a:endParaRPr lang="en-US" sz="8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334155"/>
                </a:solidFill>
              </a:rPr>
              <a:t>   Architecture designed to connect with Govt. of India Bhashini microservices for North-Eastern languages.</a:t>
            </a:r>
            <a:endParaRPr lang="en-US" sz="850" dirty="0"/>
          </a:p>
          <a:p>
            <a:pPr indent="0" marL="0">
              <a:lnSpc>
                <a:spcPts val="1400"/>
              </a:lnSpc>
              <a:buNone/>
            </a:pPr>
            <a:endParaRPr lang="en-US" sz="8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334155"/>
                </a:solidFill>
              </a:rPr>
              <a:t>⚡ Targeted NER Language Models</a:t>
            </a:r>
            <a:endParaRPr lang="en-US" sz="8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334155"/>
                </a:solidFill>
              </a:rPr>
              <a:t>   Integration underway for native Assamese, Khasi, Mizo, and Bengali ASR (speech-to-text) and TTS (text-to-speech).</a:t>
            </a:r>
            <a:endParaRPr lang="en-US" sz="850" dirty="0"/>
          </a:p>
          <a:p>
            <a:pPr indent="0" marL="0">
              <a:lnSpc>
                <a:spcPts val="1400"/>
              </a:lnSpc>
              <a:buNone/>
            </a:pPr>
            <a:endParaRPr lang="en-US" sz="8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334155"/>
                </a:solidFill>
              </a:rPr>
              <a:t>⚡ Modular Microservice Adapter</a:t>
            </a:r>
            <a:endParaRPr lang="en-US" sz="8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334155"/>
                </a:solidFill>
              </a:rPr>
              <a:t>   Backend API wrapper ready to route voice requests to Bhashini endpoints with offline fallback caching.</a:t>
            </a:r>
            <a:endParaRPr lang="en-US" sz="850" dirty="0"/>
          </a:p>
          <a:p>
            <a:pPr indent="0" marL="0">
              <a:lnSpc>
                <a:spcPts val="1400"/>
              </a:lnSpc>
              <a:buNone/>
            </a:pPr>
            <a:endParaRPr lang="en-US" sz="8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334155"/>
                </a:solidFill>
              </a:rPr>
              <a:t>⚡ Dialect Adaptation &amp; Cultural Nuance</a:t>
            </a:r>
            <a:endParaRPr lang="en-US" sz="8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334155"/>
                </a:solidFill>
              </a:rPr>
              <a:t>   Tailored acoustic models to understand local accents and elderly speech cadences accurately.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2011680" cy="292608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6576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RESILIENCE &amp; GOVERNANCE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713232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Offline-First PWA &amp; DPDP Act 2023 Compliance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11430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Engineered for rural network resilience and full compliance with Indian data protection laws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Smriti (স্মৃতি) • Team Design Divas • SIH26003 (MDoNER)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48640" y="1554480"/>
            <a:ext cx="5394960" cy="4572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25400">
            <a:solidFill>
              <a:srgbClr val="1E40A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916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40AF"/>
                </a:solidFill>
              </a:rPr>
              <a:t>📴 OFFLINE-FIRST PWA ARCHITECTURE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2103120"/>
            <a:ext cx="502920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334155"/>
                </a:solidFill>
              </a:rPr>
              <a:t>• Workbox Service Worker: Caches complete app bundle for standalone installation on Android, iOS, and PC.</a:t>
            </a:r>
            <a:endParaRPr lang="en-US" sz="850" dirty="0"/>
          </a:p>
          <a:p>
            <a:pPr indent="0" marL="0">
              <a:lnSpc>
                <a:spcPts val="1400"/>
              </a:lnSpc>
              <a:buNone/>
            </a:pPr>
            <a:endParaRPr lang="en-US" sz="8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334155"/>
                </a:solidFill>
              </a:rPr>
              <a:t>• IndexedDB Local Storage (idb): Caches senior profiles, family reminiscence photos, and 10 daily routines on device.</a:t>
            </a:r>
            <a:endParaRPr lang="en-US" sz="850" dirty="0"/>
          </a:p>
          <a:p>
            <a:pPr indent="0" marL="0">
              <a:lnSpc>
                <a:spcPts val="1400"/>
              </a:lnSpc>
              <a:buNone/>
            </a:pPr>
            <a:endParaRPr lang="en-US" sz="8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334155"/>
                </a:solidFill>
              </a:rPr>
              <a:t>• Resilient Action Sync Queue: Routine acknowledgements and game scores logged offline auto-sync when internet resumes.</a:t>
            </a:r>
            <a:endParaRPr lang="en-US" sz="850" dirty="0"/>
          </a:p>
          <a:p>
            <a:pPr indent="0" marL="0">
              <a:lnSpc>
                <a:spcPts val="1400"/>
              </a:lnSpc>
              <a:buNone/>
            </a:pPr>
            <a:endParaRPr lang="en-US" sz="8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334155"/>
                </a:solidFill>
              </a:rPr>
              <a:t>• Zero App Crash Policy: Graceful offline fallbacks prevent blank screens or connection error dialogs.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217920" y="1554480"/>
            <a:ext cx="5394960" cy="4572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25400">
            <a:solidFill>
              <a:srgbClr val="1E3A2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16916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2F"/>
                </a:solidFill>
              </a:rPr>
              <a:t>🛡️ DPDP ACT 2023 COMPLIANCE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0" y="2103120"/>
            <a:ext cx="502920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0F172A"/>
                </a:solidFill>
              </a:rPr>
              <a:t>• Mandatory Photo Consent Checkbox: Explicit caregiver agreement under DPDP 2023 required before uploading any senior portrait.</a:t>
            </a:r>
            <a:endParaRPr lang="en-US" sz="850" dirty="0"/>
          </a:p>
          <a:p>
            <a:pPr indent="0" marL="0">
              <a:lnSpc>
                <a:spcPts val="1400"/>
              </a:lnSpc>
              <a:buNone/>
            </a:pPr>
            <a:endParaRPr lang="en-US" sz="8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0F172A"/>
                </a:solidFill>
              </a:rPr>
              <a:t>• Public Legal Policy Route (/privacy-policy): Transparent disclosure of data types, processing purposes, and security safeguards.</a:t>
            </a:r>
            <a:endParaRPr lang="en-US" sz="850" dirty="0"/>
          </a:p>
          <a:p>
            <a:pPr indent="0" marL="0">
              <a:lnSpc>
                <a:spcPts val="1400"/>
              </a:lnSpc>
              <a:buNone/>
            </a:pPr>
            <a:endParaRPr lang="en-US" sz="8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0F172A"/>
                </a:solidFill>
              </a:rPr>
              <a:t>• AES-256 Storage &amp; Scoped JWTs: Multi-tenant data isolation; biometrics remain on-device (FIDO2 public key standard).</a:t>
            </a:r>
            <a:endParaRPr lang="en-US" sz="850" dirty="0"/>
          </a:p>
          <a:p>
            <a:pPr indent="0" marL="0">
              <a:lnSpc>
                <a:spcPts val="1400"/>
              </a:lnSpc>
              <a:buNone/>
            </a:pPr>
            <a:endParaRPr lang="en-US" sz="8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50" dirty="0">
                <a:solidFill>
                  <a:srgbClr val="0F172A"/>
                </a:solidFill>
              </a:rPr>
              <a:t>• 30-Day Erasure &amp; Grievance Redressal: Complete data erasure guarantee upon request with appointed Grievance Officer.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2011680" cy="292608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6576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VERIFICATION MATRIX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713232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SIH26003 Requirement Coverage Matrix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11430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Comprehensive mapping of Smart India Hackathon problem statement specifications against Smriti delivery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Smriti (স্মৃতি) • Team Design Divas • SIH26003 (MDoNER)</a:t>
            </a:r>
            <a:endParaRPr lang="en-US" sz="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926080"/>
                <a:gridCol w="576072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REQ</a:t>
                      </a:r>
                      <a:endParaRPr lang="en-US" sz="8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SIH26003 SPECIFICATION</a:t>
                      </a:r>
                      <a:endParaRPr lang="en-US" sz="8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SMRITI IMPLEMENTATION &amp; STATUS</a:t>
                      </a:r>
                      <a:endParaRPr lang="en-US" sz="8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STATUS</a:t>
                      </a:r>
                      <a:endParaRPr lang="en-US" sz="8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2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E3A2F"/>
                          </a:solidFill>
                        </a:rPr>
                        <a:t>(a)</a:t>
                      </a:r>
                      <a:endParaRPr lang="en-US" sz="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F172A"/>
                          </a:solidFill>
                        </a:rPr>
                        <a:t>Culturally Attuned Cognitive Games</a:t>
                      </a:r>
                      <a:endParaRPr lang="en-US" sz="7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34155"/>
                          </a:solidFill>
                        </a:rPr>
                        <a:t>5 games themed around NER produce, instruments, routines, and family reminiscence.</a:t>
                      </a:r>
                      <a:endParaRPr lang="en-US" sz="7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65F46"/>
                          </a:solidFill>
                        </a:rPr>
                        <a:t>DONE (100%)</a:t>
                      </a:r>
                      <a:endParaRPr lang="en-US" sz="7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E3A2F"/>
                          </a:solidFill>
                        </a:rPr>
                        <a:t>(b)</a:t>
                      </a:r>
                      <a:endParaRPr lang="en-US" sz="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F172A"/>
                          </a:solidFill>
                        </a:rPr>
                        <a:t>AI/ML Adaptive Difficulty Scaling</a:t>
                      </a:r>
                      <a:endParaRPr lang="en-US" sz="7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34155"/>
                          </a:solidFill>
                        </a:rPr>
                        <a:t>Live Render ML API (/get_next_difficulty) + real-time within-session scaling.</a:t>
                      </a:r>
                      <a:endParaRPr lang="en-US" sz="7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65F46"/>
                          </a:solidFill>
                        </a:rPr>
                        <a:t>DONE (100%)</a:t>
                      </a:r>
                      <a:endParaRPr lang="en-US" sz="7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E3A2F"/>
                          </a:solidFill>
                        </a:rPr>
                        <a:t>(c)</a:t>
                      </a:r>
                      <a:endParaRPr lang="en-US" sz="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F172A"/>
                          </a:solidFill>
                        </a:rPr>
                        <a:t>Cross-Device &amp; Offline PWA Access</a:t>
                      </a:r>
                      <a:endParaRPr lang="en-US" sz="7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34155"/>
                          </a:solidFill>
                        </a:rPr>
                        <a:t>Workbox service worker, IndexedDB local caching, and background sync queue.</a:t>
                      </a:r>
                      <a:endParaRPr lang="en-US" sz="7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65F46"/>
                          </a:solidFill>
                        </a:rPr>
                        <a:t>DONE (100%)</a:t>
                      </a:r>
                      <a:endParaRPr lang="en-US" sz="7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E3A2F"/>
                          </a:solidFill>
                        </a:rPr>
                        <a:t>(d)</a:t>
                      </a:r>
                      <a:endParaRPr lang="en-US" sz="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F172A"/>
                          </a:solidFill>
                        </a:rPr>
                        <a:t>Multilingual Voice &amp; Text Support</a:t>
                      </a:r>
                      <a:endParaRPr lang="en-US" sz="7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34155"/>
                          </a:solidFill>
                        </a:rPr>
                        <a:t>Web Speech API (EN/HI live), Assamese UI live; Bhashini NER voice in progress.</a:t>
                      </a:r>
                      <a:endParaRPr lang="en-US" sz="7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92400E"/>
                          </a:solidFill>
                        </a:rPr>
                        <a:t>PARTIAL (80%)</a:t>
                      </a:r>
                      <a:endParaRPr lang="en-US" sz="7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E3A2F"/>
                          </a:solidFill>
                        </a:rPr>
                        <a:t>(e)</a:t>
                      </a:r>
                      <a:endParaRPr lang="en-US" sz="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F172A"/>
                          </a:solidFill>
                        </a:rPr>
                        <a:t>Longitudinal Cognitive Decline Telemetry</a:t>
                      </a:r>
                      <a:endParaRPr lang="en-US" sz="7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34155"/>
                          </a:solidFill>
                        </a:rPr>
                        <a:t>Reaction speed, accuracy metrics, session history, and ML health score index.</a:t>
                      </a:r>
                      <a:endParaRPr lang="en-US" sz="7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65F46"/>
                          </a:solidFill>
                        </a:rPr>
                        <a:t>DONE (100%)</a:t>
                      </a:r>
                      <a:endParaRPr lang="en-US" sz="7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E3A2F"/>
                          </a:solidFill>
                        </a:rPr>
                        <a:t>(f)</a:t>
                      </a:r>
                      <a:endParaRPr lang="en-US" sz="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F172A"/>
                          </a:solidFill>
                        </a:rPr>
                        <a:t>Real-Time Red-Flag Caregiver Alerts</a:t>
                      </a:r>
                      <a:endParaRPr lang="en-US" sz="7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34155"/>
                          </a:solidFill>
                        </a:rPr>
                        <a:t>Missed routine alerts, 1-tap patient calling button, and database dismissal audit.</a:t>
                      </a:r>
                      <a:endParaRPr lang="en-US" sz="7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65F46"/>
                          </a:solidFill>
                        </a:rPr>
                        <a:t>DONE (100%)</a:t>
                      </a:r>
                      <a:endParaRPr lang="en-US" sz="7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E3A2F"/>
                          </a:solidFill>
                        </a:rPr>
                        <a:t>(g)</a:t>
                      </a:r>
                      <a:endParaRPr lang="en-US" sz="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F172A"/>
                          </a:solidFill>
                        </a:rPr>
                        <a:t>Low-Barrier Senior Interaction</a:t>
                      </a:r>
                      <a:endParaRPr lang="en-US" sz="7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34155"/>
                          </a:solidFill>
                        </a:rPr>
                        <a:t>Voice-first read aloud, Meta WhatsApp bot, 56px touch targets, WebAuthn biometrics.</a:t>
                      </a:r>
                      <a:endParaRPr lang="en-US" sz="7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65F46"/>
                          </a:solidFill>
                        </a:rPr>
                        <a:t>DONE (100%)</a:t>
                      </a:r>
                      <a:endParaRPr lang="en-US" sz="7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E3A2F"/>
                          </a:solidFill>
                        </a:rPr>
                        <a:t>(h)</a:t>
                      </a:r>
                      <a:endParaRPr lang="en-US" sz="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F172A"/>
                          </a:solidFill>
                        </a:rPr>
                        <a:t>Data Privacy &amp; DPDP Compliance</a:t>
                      </a:r>
                      <a:endParaRPr lang="en-US" sz="7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34155"/>
                          </a:solidFill>
                        </a:rPr>
                        <a:t>Mandatory consent checkboxes, AES-256 encryption, 30-day erasure, Grievance Officer.</a:t>
                      </a:r>
                      <a:endParaRPr lang="en-US" sz="7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65F46"/>
                          </a:solidFill>
                        </a:rPr>
                        <a:t>DONE (100%)</a:t>
                      </a:r>
                      <a:endParaRPr lang="en-US" sz="75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2011680" cy="292608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6576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FUTURE VISION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48640" y="713232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Scalability &amp; Future Development Roadmap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11430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Expanding Smriti from a digital companion into a nationwide community healthcare infrastructure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Smriti (স্মৃতি) • Team Design Divas • SIH26003 (MDoNER)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48640" y="1554480"/>
            <a:ext cx="2651760" cy="457200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25400">
            <a:solidFill>
              <a:srgbClr val="1E3A2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1691640"/>
            <a:ext cx="2377440" cy="320040"/>
          </a:xfrm>
          <a:prstGeom prst="roundRect">
            <a:avLst>
              <a:gd name="adj" fmla="val 14286"/>
            </a:avLst>
          </a:prstGeom>
          <a:solidFill>
            <a:srgbClr val="E6F4EA"/>
          </a:solidFill>
          <a:ln w="6350">
            <a:solidFill>
              <a:srgbClr val="1E3A2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6916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3A2F"/>
                </a:solidFill>
              </a:rPr>
              <a:t>PHASE 1 (NEXT 30 DAYS)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685800" y="214884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</a:rPr>
              <a:t>Full Bhashini Voice Rollout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85800" y="2834640"/>
            <a:ext cx="237744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850" dirty="0">
                <a:solidFill>
                  <a:srgbClr val="334155"/>
                </a:solidFill>
              </a:rPr>
              <a:t>Deploy native Assamese, Khasi, Mizo, and Bengali ASR/TTS models via Bhashini microservices for zero-barrier regional voice interactions.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383280" y="1554480"/>
            <a:ext cx="2651760" cy="457200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25400">
            <a:solidFill>
              <a:srgbClr val="1E40A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20440" y="1691640"/>
            <a:ext cx="2377440" cy="320040"/>
          </a:xfrm>
          <a:prstGeom prst="roundRect">
            <a:avLst>
              <a:gd name="adj" fmla="val 14286"/>
            </a:avLst>
          </a:prstGeom>
          <a:solidFill>
            <a:srgbClr val="EFF6FF"/>
          </a:solidFill>
          <a:ln w="6350">
            <a:solidFill>
              <a:srgbClr val="1E40A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520440" y="16916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40AF"/>
                </a:solidFill>
              </a:rPr>
              <a:t>PHASE 2 (Q2 2026)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3520440" y="214884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</a:rPr>
              <a:t>Tier 2 IVR &amp; SMS Fallback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520440" y="2834640"/>
            <a:ext cx="237744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850" dirty="0">
                <a:solidFill>
                  <a:srgbClr val="334155"/>
                </a:solidFill>
              </a:rPr>
              <a:t>Automated interactive voice response phone calls and SMS reminders for non-smartphone feature phones in remote hilly terrains.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217920" y="1554480"/>
            <a:ext cx="2651760" cy="457200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25400">
            <a:solidFill>
              <a:srgbClr val="C25E2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55080" y="1691640"/>
            <a:ext cx="2377440" cy="320040"/>
          </a:xfrm>
          <a:prstGeom prst="roundRect">
            <a:avLst>
              <a:gd name="adj" fmla="val 14286"/>
            </a:avLst>
          </a:prstGeom>
          <a:solidFill>
            <a:srgbClr val="FDF2EB"/>
          </a:solidFill>
          <a:ln w="6350">
            <a:solidFill>
              <a:srgbClr val="C25E2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55080" y="16916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C25E2E"/>
                </a:solidFill>
              </a:rPr>
              <a:t>PHASE 3 (Q3 2026)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6355080" y="214884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</a:rPr>
              <a:t>Tier 3 ASHA Kiosk Mode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355080" y="2834640"/>
            <a:ext cx="237744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850" dirty="0">
                <a:solidFill>
                  <a:srgbClr val="334155"/>
                </a:solidFill>
              </a:rPr>
              <a:t>Community tablet interface empowering ASHA healthcare workers to administer standardized weekly cognitive assessments in villages.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9052560" y="1554480"/>
            <a:ext cx="2651760" cy="457200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25400">
            <a:solidFill>
              <a:srgbClr val="D9770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189720" y="1691640"/>
            <a:ext cx="2377440" cy="320040"/>
          </a:xfrm>
          <a:prstGeom prst="roundRect">
            <a:avLst>
              <a:gd name="adj" fmla="val 14286"/>
            </a:avLst>
          </a:prstGeom>
          <a:solidFill>
            <a:srgbClr val="FEF3C7"/>
          </a:solidFill>
          <a:ln w="6350">
            <a:solidFill>
              <a:srgbClr val="D9770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89720" y="16916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97706"/>
                </a:solidFill>
              </a:rPr>
              <a:t>PHASE 4 (Q4 2026)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9189720" y="214884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</a:rPr>
              <a:t>Longitudinal Predictive Decline AI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9189720" y="2834640"/>
            <a:ext cx="237744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850" dirty="0">
                <a:solidFill>
                  <a:srgbClr val="334155"/>
                </a:solidFill>
              </a:rPr>
              <a:t>Multi-month longitudinal machine learning models predicting clinical decline trajectories and alerting clinicians prior to stage transitions.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731520"/>
            <a:ext cx="10698480" cy="2377440"/>
          </a:xfrm>
          <a:prstGeom prst="roundRect">
            <a:avLst>
              <a:gd name="adj" fmla="val 5769"/>
            </a:avLst>
          </a:prstGeom>
          <a:solidFill>
            <a:srgbClr val="1E3A2F"/>
          </a:solidFill>
          <a:ln w="12700">
            <a:solidFill>
              <a:srgbClr val="1E3A2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97280" y="9144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🌸 SMRITI (স্মৃতি / स्मृति)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97280" y="15087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DE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Restoring Dignity • Preserving Memories • Empowering Caregivers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97280" y="192024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to the Judges, Ministry of DoNER &amp; Smart India Hackathon 2026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3337560"/>
            <a:ext cx="521208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25400">
            <a:solidFill>
              <a:srgbClr val="C25E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347472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25E2E"/>
                </a:solidFill>
              </a:rPr>
              <a:t>👥 TEAM DESIGN DIVAS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3886200"/>
            <a:ext cx="484632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900" dirty="0">
                <a:solidFill>
                  <a:srgbClr val="0F172A"/>
                </a:solidFill>
              </a:rPr>
              <a:t>• Smart India Hackathon 2026 Finalist Team</a:t>
            </a:r>
            <a:endParaRPr lang="en-US" sz="900" dirty="0"/>
          </a:p>
          <a:p>
            <a:pPr indent="0" marL="0">
              <a:lnSpc>
                <a:spcPts val="1600"/>
              </a:lnSpc>
              <a:buNone/>
            </a:pPr>
            <a:endParaRPr lang="en-US" sz="9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00" dirty="0">
                <a:solidFill>
                  <a:srgbClr val="0F172A"/>
                </a:solidFill>
              </a:rPr>
              <a:t>• Problem Statement: SIH26003 (Ministry of DoNER)</a:t>
            </a:r>
            <a:endParaRPr lang="en-US" sz="900" dirty="0"/>
          </a:p>
          <a:p>
            <a:pPr indent="0" marL="0">
              <a:lnSpc>
                <a:spcPts val="1600"/>
              </a:lnSpc>
              <a:buNone/>
            </a:pPr>
            <a:endParaRPr lang="en-US" sz="9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00" dirty="0">
                <a:solidFill>
                  <a:srgbClr val="0F172A"/>
                </a:solidFill>
              </a:rPr>
              <a:t>• Domain: AI-Augmented Healthcare &amp; Cognitive Care</a:t>
            </a:r>
            <a:endParaRPr lang="en-US" sz="900" dirty="0"/>
          </a:p>
          <a:p>
            <a:pPr indent="0" marL="0">
              <a:lnSpc>
                <a:spcPts val="1600"/>
              </a:lnSpc>
              <a:buNone/>
            </a:pPr>
            <a:endParaRPr lang="en-US" sz="9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00" dirty="0">
                <a:solidFill>
                  <a:srgbClr val="0F172A"/>
                </a:solidFill>
              </a:rPr>
              <a:t>• Contact: gopalrajlohiya2@gmail.com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217920" y="3337560"/>
            <a:ext cx="521208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25400">
            <a:solidFill>
              <a:srgbClr val="1E40A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347472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40AF"/>
                </a:solidFill>
              </a:rPr>
              <a:t>🌐 LIVE REPOSITORY &amp; DEPLOYMENTS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0" y="3886200"/>
            <a:ext cx="484632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900" dirty="0">
                <a:solidFill>
                  <a:srgbClr val="334155"/>
                </a:solidFill>
              </a:rPr>
              <a:t>• Live Frontend: Deployed on Vercel SPA Engine</a:t>
            </a:r>
            <a:endParaRPr lang="en-US" sz="900" dirty="0"/>
          </a:p>
          <a:p>
            <a:pPr indent="0" marL="0">
              <a:lnSpc>
                <a:spcPts val="1600"/>
              </a:lnSpc>
              <a:buNone/>
            </a:pPr>
            <a:endParaRPr lang="en-US" sz="9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00" dirty="0">
                <a:solidFill>
                  <a:srgbClr val="334155"/>
                </a:solidFill>
              </a:rPr>
              <a:t>• Live Backend: Node.js / MongoDB Atlas on Render</a:t>
            </a:r>
            <a:endParaRPr lang="en-US" sz="900" dirty="0"/>
          </a:p>
          <a:p>
            <a:pPr indent="0" marL="0">
              <a:lnSpc>
                <a:spcPts val="1600"/>
              </a:lnSpc>
              <a:buNone/>
            </a:pPr>
            <a:endParaRPr lang="en-US" sz="9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00" dirty="0">
                <a:solidFill>
                  <a:srgbClr val="334155"/>
                </a:solidFill>
              </a:rPr>
              <a:t>• Live ML Engine: https://dementia-ai-engine.onrender.com</a:t>
            </a:r>
            <a:endParaRPr lang="en-US" sz="900" dirty="0"/>
          </a:p>
          <a:p>
            <a:pPr indent="0" marL="0">
              <a:lnSpc>
                <a:spcPts val="1600"/>
              </a:lnSpc>
              <a:buNone/>
            </a:pPr>
            <a:endParaRPr lang="en-US" sz="9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00" dirty="0">
                <a:solidFill>
                  <a:srgbClr val="334155"/>
                </a:solidFill>
              </a:rPr>
              <a:t>• WhatsApp Bot: https://wa.me/15556680031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Smart India Hackathon 2026 (MDoNER)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Smriti (স্মৃতি) — AI-Powered Cognitive Care Platform</dc:title>
  <dc:subject>SIH26003 Technical Presentation Deck</dc:subject>
  <dc:creator>Team Design Divas</dc:creator>
  <cp:lastModifiedBy>Team Design Divas</cp:lastModifiedBy>
  <cp:revision>1</cp:revision>
  <dcterms:created xsi:type="dcterms:W3CDTF">2026-09-08T05:04:22Z</dcterms:created>
  <dcterms:modified xsi:type="dcterms:W3CDTF">2026-09-08T05:04:22Z</dcterms:modified>
</cp:coreProperties>
</file>