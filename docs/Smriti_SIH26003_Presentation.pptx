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365760"/>
            <a:ext cx="5760720" cy="548640"/>
          </a:xfrm>
          <a:prstGeom prst="roundRect">
            <a:avLst>
              <a:gd name="adj" fmla="val 16667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3657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SMART INDIA HACKATHON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694944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371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Problem Statement ID — SIH26003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Problem Statement Title 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E3A2F"/>
                </a:solidFill>
              </a:rPr>
              <a:t>AI-Based Cognitive Gaming and Memory Assistance Platform for Elderly Dementia Patients in North Eastern Region (NER)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Theme — MedTech / BioTech / HealthTech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474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PS Category — Software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886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5E2E"/>
                </a:solidFill>
              </a:rPr>
              <a:t>Organization — Ministry of Development of North Eastern Region (MDoNER)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4480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Team Name (Registered on Portal) — Design Divas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5029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</a:rPr>
              <a:t>🌸 Smriti (স্মৃতি / स्मृति) — AI-Powered Memory &amp; Healthcare Companion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1188720"/>
            <a:ext cx="3749040" cy="5029200"/>
          </a:xfrm>
          <a:prstGeom prst="roundRect">
            <a:avLst>
              <a:gd name="adj" fmla="val 3659"/>
            </a:avLst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463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🌸 SMRITI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13816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DE68A"/>
                </a:solidFill>
              </a:rPr>
              <a:t>(স্মৃতি / स्मृति)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256032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5 Culturally Rooted Games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WhatsApp Companion Bot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Live ML Difficulty Engine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Offline-First PWA (idb)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Voice STT &amp; Spoken Audio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Clinical Caregiver Hub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DPDP Act 2023 Compliant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32004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DESIGN DIVAS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27432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PROTOTYPE OVERVIEW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0" y="320040"/>
            <a:ext cx="2103120" cy="320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320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SMART INDIA HACKATHON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Smriti (স্মৃতি) • SIH26003 • Ministry of DoNER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77240"/>
            <a:ext cx="58521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25400">
            <a:solidFill>
              <a:srgbClr val="1E3A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868680"/>
            <a:ext cx="1463040" cy="274320"/>
          </a:xfrm>
          <a:prstGeom prst="rect">
            <a:avLst/>
          </a:prstGeom>
          <a:solidFill>
            <a:srgbClr val="1E3A2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868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SOLUTION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F172A"/>
                </a:solidFill>
              </a:rPr>
              <a:t>Smriti is a hybrid cognitive-care ecosystem combining a WhatsApp AI companion bot, an offline-first PWA with 5 culturally-grounded cognitive games, and a clinical caregiver dashboard — built to meet elderly NER dementia patients where they already are (WhatsApp), instead of asking them to adopt new technology.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5486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4155"/>
                </a:solidFill>
              </a:rPr>
              <a:t>• Patient Portal: Frictionless PIN/biometrics, 5 NER-themed games (Bihu Dhol, Kaji Nemu, Assam Tea).</a:t>
            </a:r>
            <a:endParaRPr lang="en-US" sz="7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4155"/>
                </a:solidFill>
              </a:rPr>
              <a:t>• Gemini AI Companion: Voice-first, multilingual, live-grounded in patient medicines &amp; routine.</a:t>
            </a:r>
            <a:endParaRPr lang="en-US" sz="7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4155"/>
                </a:solidFill>
              </a:rPr>
              <a:t>• WhatsApp Bot: Daily reminders + automated DONE acknowledgment, zero app-install friction.</a:t>
            </a:r>
            <a:endParaRPr lang="en-US" sz="7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4155"/>
                </a:solidFill>
              </a:rPr>
              <a:t>• Caregiver Portal: Real-time red-flag alerts, 7-day cognitive performance analytics, patient CRUD.</a:t>
            </a:r>
            <a:endParaRPr lang="en-US" sz="7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4155"/>
                </a:solidFill>
              </a:rPr>
              <a:t>• Live ML Engine: Adaptive difficulty + cognitive scoring on Render (dementia-ai-engine.onrender.com).</a:t>
            </a:r>
            <a:endParaRPr lang="en-US" sz="7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4155"/>
                </a:solidFill>
              </a:rPr>
              <a:t>• True Offline-First PWA: Full functionality with zero internet, auto-sync on reconnect.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6492240" y="7772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25400">
            <a:solidFill>
              <a:srgbClr val="1E40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868680"/>
            <a:ext cx="1645920" cy="2743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868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PROTOTYPE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75120" y="12344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i="1" dirty="0">
                <a:solidFill>
                  <a:srgbClr val="0F172A"/>
                </a:solidFill>
              </a:rPr>
              <a:t>"English + Hindi live voice (Assamese text live, voice in progress), elder-friendly high-contrast UI, hands-free Web Speech API interaction, one-tap WhatsApp deep link."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675120" y="1920240"/>
            <a:ext cx="2331720" cy="1234440"/>
          </a:xfrm>
          <a:prstGeom prst="roundRect">
            <a:avLst>
              <a:gd name="adj" fmla="val 3704"/>
            </a:avLst>
          </a:prstGeom>
          <a:solidFill>
            <a:srgbClr val="EFF6FF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9933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E40AF"/>
                </a:solidFill>
              </a:rPr>
              <a:t>📱 Patient Portal WebApp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6766560" y="2267712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56px touch targets, horizon routines, Family Photo Vault, offline IndexedDB cache.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9144000" y="1920240"/>
            <a:ext cx="2331720" cy="1234440"/>
          </a:xfrm>
          <a:prstGeom prst="roundRect">
            <a:avLst>
              <a:gd name="adj" fmla="val 3704"/>
            </a:avLst>
          </a:prstGeom>
          <a:solidFill>
            <a:srgbClr val="EFF6FF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19933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E40AF"/>
                </a:solidFill>
              </a:rPr>
              <a:t>💬 WhatsApp Companion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9235440" y="2267712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wa.me/15556680031 bridge, cron schedule dispatch, conversational Gemini Q&amp;A.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6675120" y="3246120"/>
            <a:ext cx="2331720" cy="1234440"/>
          </a:xfrm>
          <a:prstGeom prst="roundRect">
            <a:avLst>
              <a:gd name="adj" fmla="val 3704"/>
            </a:avLst>
          </a:prstGeom>
          <a:solidFill>
            <a:srgbClr val="EFF6FF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3192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E40AF"/>
                </a:solidFill>
              </a:rPr>
              <a:t>🧠 Cognitive Games Suite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6766560" y="3593592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5 games logging accuracy &amp; reaction speed; live ML starting level calibration.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9144000" y="3246120"/>
            <a:ext cx="2331720" cy="1234440"/>
          </a:xfrm>
          <a:prstGeom prst="roundRect">
            <a:avLst>
              <a:gd name="adj" fmla="val 3704"/>
            </a:avLst>
          </a:prstGeom>
          <a:solidFill>
            <a:srgbClr val="EFF6FF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33192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E40AF"/>
                </a:solidFill>
              </a:rPr>
              <a:t>📊 Caregiver Dashboard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9235440" y="3593592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Red-flag missed medicine alerts, 1-tap call button, 7-day adherence charts.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457200" y="4800600"/>
            <a:ext cx="2377440" cy="274320"/>
          </a:xfrm>
          <a:prstGeom prst="rect">
            <a:avLst/>
          </a:prstGeom>
          <a:solidFill>
            <a:srgbClr val="C25E2E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WHY WE STAND OUT ?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516636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C25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2303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25E2E"/>
                </a:solidFill>
              </a:rPr>
              <a:t>★ Real ML-Powered Engine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548640" y="550468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Live FastAPI on Render computes per-session difficulty &amp; 0-100 cognitive score from real gameplay telemetry, not static rules.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3291840" y="516636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C25E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52303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25E2E"/>
                </a:solidFill>
              </a:rPr>
              <a:t>★ Culturally Authentic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3383280" y="550468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Every game, produce item &amp; sound grounded in real NER culture (Kaji Nemu, Dhol), unlike Western apps like Lumosity.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6126480" y="516636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C25E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52303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25E2E"/>
                </a:solidFill>
              </a:rPr>
              <a:t>★ True Offline-First PWA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6217920" y="550468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Workbox Service Worker + IndexedDB caching works in zero-connectivity hill areas, verified in production build.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8961120" y="516636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C25E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52560" y="52303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25E2E"/>
                </a:solidFill>
              </a:rPr>
              <a:t>★ Zero-Install WhatsApp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9052560" y="550468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Patients unwilling/unable to install apps get daily routine reminders and check-ins on the platform they already use.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32004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DESIGN DIVAS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27432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&amp; 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0" y="320040"/>
            <a:ext cx="2103120" cy="320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320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SMART INDIA HACKATHON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Smriti (স্মৃতি) • SIH26003 • Ministry of DoNER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77240"/>
            <a:ext cx="438912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25400">
            <a:solidFill>
              <a:srgbClr val="1E3A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868680"/>
            <a:ext cx="2560320" cy="256032"/>
          </a:xfrm>
          <a:prstGeom prst="rect">
            <a:avLst/>
          </a:prstGeom>
          <a:solidFill>
            <a:srgbClr val="1E3A2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8686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BACKEND ARCHITECTURE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40" dirty="0">
                <a:solidFill>
                  <a:srgbClr val="334155"/>
                </a:solidFill>
              </a:rPr>
              <a:t>• Node.js/Express REST API, JWT + bcrypt (365-day persistent sessions, isolated roles).</a:t>
            </a:r>
            <a:endParaRPr lang="en-US" sz="740" dirty="0"/>
          </a:p>
          <a:p>
            <a:pPr indent="0" marL="0">
              <a:lnSpc>
                <a:spcPts val="1200"/>
              </a:lnSpc>
              <a:buNone/>
            </a:pPr>
            <a:r>
              <a:rPr lang="en-US" sz="740" dirty="0">
                <a:solidFill>
                  <a:srgbClr val="334155"/>
                </a:solidFill>
              </a:rPr>
              <a:t>• MongoDB Atlas: Patients, Caregivers, Reminders, GameSessions, Photos, Chat history.</a:t>
            </a:r>
            <a:endParaRPr lang="en-US" sz="740" dirty="0"/>
          </a:p>
          <a:p>
            <a:pPr indent="0" marL="0">
              <a:lnSpc>
                <a:spcPts val="1200"/>
              </a:lnSpc>
              <a:buNone/>
            </a:pPr>
            <a:r>
              <a:rPr lang="en-US" sz="740" dirty="0">
                <a:solidFill>
                  <a:srgbClr val="334155"/>
                </a:solidFill>
              </a:rPr>
              <a:t>• node-cron scheduled reminder dispatch engine.</a:t>
            </a:r>
            <a:endParaRPr lang="en-US" sz="740" dirty="0"/>
          </a:p>
          <a:p>
            <a:pPr indent="0" marL="0">
              <a:lnSpc>
                <a:spcPts val="1200"/>
              </a:lnSpc>
              <a:buNone/>
            </a:pPr>
            <a:r>
              <a:rPr lang="en-US" sz="740" dirty="0">
                <a:solidFill>
                  <a:srgbClr val="334155"/>
                </a:solidFill>
              </a:rPr>
              <a:t>• Google Gemini API powers in-app &amp; WhatsApp bot with live per-patient memory injection.</a:t>
            </a:r>
            <a:endParaRPr lang="en-US" sz="740" dirty="0"/>
          </a:p>
          <a:p>
            <a:pPr indent="0" marL="0">
              <a:lnSpc>
                <a:spcPts val="1200"/>
              </a:lnSpc>
              <a:buNone/>
            </a:pPr>
            <a:r>
              <a:rPr lang="en-US" sz="740" dirty="0">
                <a:solidFill>
                  <a:srgbClr val="334155"/>
                </a:solidFill>
              </a:rPr>
              <a:t>• Teammate FastAPI ML microservice (Render): /get_next_difficulty &amp; /calculate_health_score with 6s timeout + rule-based fallback.</a:t>
            </a:r>
            <a:endParaRPr lang="en-US" sz="740" dirty="0"/>
          </a:p>
          <a:p>
            <a:pPr indent="0" marL="0">
              <a:lnSpc>
                <a:spcPts val="1200"/>
              </a:lnSpc>
              <a:buNone/>
            </a:pPr>
            <a:r>
              <a:rPr lang="en-US" sz="740" dirty="0">
                <a:solidFill>
                  <a:srgbClr val="334155"/>
                </a:solidFill>
              </a:rPr>
              <a:t>• Meta WhatsApp Cloud API: webhook + wa.me link.</a:t>
            </a:r>
            <a:endParaRPr lang="en-US" sz="740" dirty="0"/>
          </a:p>
          <a:p>
            <a:pPr indent="0" marL="0">
              <a:lnSpc>
                <a:spcPts val="1200"/>
              </a:lnSpc>
              <a:buNone/>
            </a:pPr>
            <a:r>
              <a:rPr lang="en-US" sz="740" dirty="0">
                <a:solidFill>
                  <a:srgbClr val="334155"/>
                </a:solidFill>
              </a:rPr>
              <a:t>• vite-plugin-pwa + Workbox + IndexedDB for offline caching and background sync queue.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5029200" y="777240"/>
            <a:ext cx="667512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25400">
            <a:solidFill>
              <a:srgbClr val="1E40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868680"/>
            <a:ext cx="2377440" cy="25603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868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THREE-TIER USER FLOW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12080" y="1234440"/>
            <a:ext cx="6309360" cy="1051560"/>
          </a:xfrm>
          <a:prstGeom prst="roundRect">
            <a:avLst>
              <a:gd name="adj" fmla="val 4348"/>
            </a:avLst>
          </a:prstGeom>
          <a:solidFill>
            <a:srgbClr val="EFF6FF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1307592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E40AF"/>
                </a:solidFill>
              </a:rPr>
              <a:t>1. Patient Tier (Web/WhatsApp)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5349240" y="155448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0F172A"/>
                </a:solidFill>
              </a:rPr>
              <a:t>PIN/biometrics login or WhatsApp message → plays cognitive games, checks horizon routines, queries AI companion → auto-synced to MongoDB with offline fallback.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5212080" y="2377440"/>
            <a:ext cx="6309360" cy="1051560"/>
          </a:xfrm>
          <a:prstGeom prst="roundRect">
            <a:avLst>
              <a:gd name="adj" fmla="val 4348"/>
            </a:avLst>
          </a:prstGeom>
          <a:solidFill>
            <a:srgbClr val="EFF6FF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2450592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E40AF"/>
                </a:solidFill>
              </a:rPr>
              <a:t>2. Caregiver Tier (Web Dashboard)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5349240" y="269748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0F172A"/>
                </a:solidFill>
              </a:rPr>
              <a:t>Email/password or Google OAuth → scoped patient roster, real-time red-flag alerts for missed medicines, 7-day adherence charts, and cognitive decline telemetry.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5212080" y="3520440"/>
            <a:ext cx="6309360" cy="1051560"/>
          </a:xfrm>
          <a:prstGeom prst="roundRect">
            <a:avLst>
              <a:gd name="adj" fmla="val 4348"/>
            </a:avLst>
          </a:prstGeom>
          <a:solidFill>
            <a:srgbClr val="EFF6FF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3593592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E40AF"/>
                </a:solidFill>
              </a:rPr>
              <a:t>3. AI/ML Layer (Hybrid Resilience)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5349240" y="384048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0F172A"/>
                </a:solidFill>
              </a:rPr>
              <a:t>Gemini (conversational grounding) + FastAPI ML (difficulty &amp; health scoring), backed by immediate rule-based fallback so the system never fails even during outages.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457200" y="4709160"/>
            <a:ext cx="11247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9050">
            <a:solidFill>
              <a:srgbClr val="C25E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800600"/>
            <a:ext cx="2011680" cy="256032"/>
          </a:xfrm>
          <a:prstGeom prst="rect">
            <a:avLst/>
          </a:prstGeom>
          <a:solidFill>
            <a:srgbClr val="C25E2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8006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 COMPONENTS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0080" y="51206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4155"/>
                </a:solidFill>
              </a:rPr>
              <a:t>• Google Gemini LLM — Real-time conversational memory grounding using live MongoDB patient records (medications, routine, family relation context).</a:t>
            </a:r>
            <a:endParaRPr lang="en-US" sz="7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4155"/>
                </a:solidFill>
              </a:rPr>
              <a:t>• ML Difficulty/Scoring Engine (FastAPI on Render) — Evaluates reaction time + mistakes + level → recommends next difficulty + 0-100 cognitive score + clinical status.</a:t>
            </a:r>
            <a:endParaRPr lang="en-US" sz="7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4155"/>
                </a:solidFill>
              </a:rPr>
              <a:t>• Rule-Based Fallback Layer — Zero-latency accuracy-threshold logic backing every ML call, guaranteeing 100% demo stability.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32004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DESIGN DIVAS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27432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FEASIBILITY, VIABILITY &amp; CHALLENGES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0" y="320040"/>
            <a:ext cx="2103120" cy="320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320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SMART INDIA HACKATHON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Smriti (স্মৃতি) • SIH26003 • Ministry of DoNER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77240"/>
            <a:ext cx="1828800" cy="256032"/>
          </a:xfrm>
          <a:prstGeom prst="rect">
            <a:avLst/>
          </a:prstGeom>
          <a:solidFill>
            <a:srgbClr val="1E3A2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FEASIBILITY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17043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E3A2F"/>
                </a:solidFill>
              </a:rPr>
              <a:t>✓ Technical Feasibility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594360" y="14173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334155"/>
                </a:solidFill>
              </a:rPr>
              <a:t>Built on production-proven free-tier stacks (React, Node, MongoDB Atlas, Gemini free tier, Meta WhatsApp free tier) — ₹0 infrastructure cost at pilot scale.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505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E3A2F"/>
                </a:solidFill>
              </a:rPr>
              <a:t>✓ Operational Feasibility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594360" y="2697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334155"/>
                </a:solidFill>
              </a:rPr>
              <a:t>WhatsApp has near-universal penetration in rural NER; seniors require no new app-learning curve beyond replying to a known contact.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3075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E3A2F"/>
                </a:solidFill>
              </a:rPr>
              <a:t>✓ Economic Feasibility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594360" y="39776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334155"/>
                </a:solidFill>
              </a:rPr>
              <a:t>100% free and open-access to rural clinics &amp; ASHA centers — unlike Western apps (CogniFit/Lumosity $15–20/mo, unaffordable in rural NER).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501091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E3A2F"/>
                </a:solidFill>
              </a:rPr>
              <a:t>✓ Regulatory Feasibility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594360" y="52578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40" dirty="0">
                <a:solidFill>
                  <a:srgbClr val="334155"/>
                </a:solidFill>
              </a:rPr>
              <a:t>DPDP Act 2023-compliant by design: explicit photo consent, AES-256 at rest, role-scoped access, named Grievance Officer, 30-day erasure guarantee.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217920" y="777240"/>
            <a:ext cx="1828800" cy="256032"/>
          </a:xfrm>
          <a:prstGeom prst="rect">
            <a:avLst/>
          </a:prstGeom>
          <a:solidFill>
            <a:srgbClr val="C25E2E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CHALLENGES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17920" y="1097280"/>
            <a:ext cx="54864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9050">
            <a:solidFill>
              <a:srgbClr val="C25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1704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25E2E"/>
                </a:solidFill>
              </a:rPr>
              <a:t>🚨 Challenge: 1. Reaching patients with zero digital literacy or no smartphone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6355080" y="155448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💡 Smriti Mitigation:</a:t>
            </a:r>
            <a:endParaRPr lang="en-US" sz="7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WhatsApp-first design (no new app to learn); tiered fallback architecture (SMS/IVR Tier 2, ASHA-assisted Kiosk Mode Tier 3) — architecture-ready, future scope.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6217920" y="2788920"/>
            <a:ext cx="54864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9050">
            <a:solidFill>
              <a:srgbClr val="C25E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286207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25E2E"/>
                </a:solidFill>
              </a:rPr>
              <a:t>🚨 Challenge: 2. Usability for cognitively-impaired elderly users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6355080" y="324612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💡 Smriti Mitigation:</a:t>
            </a:r>
            <a:endParaRPr lang="en-US" sz="7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56px+ touch targets, zero hidden menus, high-contrast palette (aligned with Apple Assistive Access / GrandPad accessibility); voice-first read-aloud eliminates typing.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217920" y="4480560"/>
            <a:ext cx="54864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9050">
            <a:solidFill>
              <a:srgbClr val="C25E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455371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25E2E"/>
                </a:solidFill>
              </a:rPr>
              <a:t>🚨 Challenge: 3. Reliability in NER’s low-connectivity hill terrain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6355080" y="493776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💡 Smriti Mitigation:</a:t>
            </a:r>
            <a:endParaRPr lang="en-US" sz="7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True offline-first PWA (Workbox Service Worker + IndexedDB), verified in production build; background sync queue ensures zero score/routine data loss.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32004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DESIGN DIVAS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27432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AND BENEFITS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0" y="320040"/>
            <a:ext cx="2103120" cy="320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320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SMART INDIA HACKATHON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Smriti (স্মৃতি) • SIH26003 • Ministry of DoNER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77240"/>
            <a:ext cx="36118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1E3A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868680"/>
            <a:ext cx="3337560" cy="22860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86868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E3A2F"/>
                </a:solidFill>
              </a:rPr>
              <a:t>ECONOMIC BENEFITS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594360" y="114300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Reduces dependency on scarce, Guwahati-concentrated neurologists (85%+ in Guwahati) by enabling remote cognitive care &amp; progress tracking — eliminating costly specialist travel for rural families.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4297680" y="777240"/>
            <a:ext cx="36118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1E40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868680"/>
            <a:ext cx="3337560" cy="228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86868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E40AF"/>
                </a:solidFill>
              </a:rPr>
              <a:t>SOCIAL BENEFITS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434840" y="114300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Reduces elderly isolation via daily WhatsApp check-ins; empowers family caregivers with real visibility; counters regional stigma where dementia is dismissed as normal aging ("বুঢ়া বয়সৰ পাহৰণি").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8138160" y="777240"/>
            <a:ext cx="36118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C25E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868680"/>
            <a:ext cx="3337560" cy="228600"/>
          </a:xfrm>
          <a:prstGeom prst="rect">
            <a:avLst/>
          </a:prstGeom>
          <a:solidFill>
            <a:srgbClr val="FDF2EB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86868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25E2E"/>
                </a:solidFill>
              </a:rPr>
              <a:t>SYSTEMIC BENEFITS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8275320" y="114300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Reduces unnecessary travel across rugged mountain terrain; strengthens MDoNER and Digital India telemedicine initiatives with longitudinal adherence &amp; cognitive decline data.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112471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651760"/>
            <a:ext cx="2743200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6517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STAKEHOLDERS &amp; IMPACT FLOW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0080" y="3017520"/>
            <a:ext cx="2560320" cy="1828800"/>
          </a:xfrm>
          <a:prstGeom prst="roundRect">
            <a:avLst>
              <a:gd name="adj" fmla="val 2500"/>
            </a:avLst>
          </a:prstGeom>
          <a:solidFill>
            <a:srgbClr val="FAF7F2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1. Patient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31520" y="34290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Receives a WhatsApp reminder or opens PWA; plays culturally familiar game or acknowledges daily medicine.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3383280" y="3017520"/>
            <a:ext cx="2560320" cy="1828800"/>
          </a:xfrm>
          <a:prstGeom prst="roundRect">
            <a:avLst>
              <a:gd name="adj" fmla="val 2500"/>
            </a:avLst>
          </a:prstGeom>
          <a:solidFill>
            <a:srgbClr val="FAF7F2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2. Smriti AI Layer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0" y="34290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Gemini interprets &amp; responds conversationally; live ML engine scores session and adjusts next difficulty.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2560320" cy="1828800"/>
          </a:xfrm>
          <a:prstGeom prst="roundRect">
            <a:avLst>
              <a:gd name="adj" fmla="val 2500"/>
            </a:avLst>
          </a:prstGeom>
          <a:solidFill>
            <a:srgbClr val="FAF7F2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3. Caregiver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0" y="34290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Views real-time red-flag alerts and 7-day adherence charts; intervenes only when clinical lapses occur.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8869680" y="3017520"/>
            <a:ext cx="2560320" cy="1828800"/>
          </a:xfrm>
          <a:prstGeom prst="roundRect">
            <a:avLst>
              <a:gd name="adj" fmla="val 2500"/>
            </a:avLst>
          </a:prstGeom>
          <a:solidFill>
            <a:srgbClr val="FAF7F2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4. Health System / ASHA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961120" y="34290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0F172A"/>
                </a:solidFill>
              </a:rPr>
              <a:t>Aggregated adherence &amp; cognitive decline data informs community health worker rounds &amp; regional monitoring.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457200" y="5120640"/>
            <a:ext cx="11247120" cy="1280160"/>
          </a:xfrm>
          <a:prstGeom prst="roundRect">
            <a:avLst>
              <a:gd name="adj" fmla="val 5714"/>
            </a:avLst>
          </a:prstGeom>
          <a:solidFill>
            <a:srgbClr val="E6F4EA"/>
          </a:solidFill>
          <a:ln w="19050">
            <a:solidFill>
              <a:srgbClr val="1E3A2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21208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2F"/>
                </a:solidFill>
              </a:rPr>
              <a:t>🌍 OUR PROMISE &amp; SUSTAINABLE IMPACT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0080" y="5440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60" dirty="0">
                <a:solidFill>
                  <a:srgbClr val="0F172A"/>
                </a:solidFill>
              </a:rPr>
              <a:t>Aligns with UN SDG 3 (Good Health &amp; Well-Being) and SDG 10 (Reduced Inequalities — bridging the urban vs hill-state neurological care gap). Directly advances Ministry of DoNER’s regional mandate by providing a 100% free, scalable digital health ecosystem tailored for all 8 North-Eastern states.</a:t>
            </a:r>
            <a:endParaRPr lang="en-US" sz="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32004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DESIGN DIVAS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27432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0" y="320040"/>
            <a:ext cx="2103120" cy="320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320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SMART INDIA HACKATHON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Smriti (স্মৃতি) • SIH26003 • Ministry of DoNER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7724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25400">
            <a:solidFill>
              <a:srgbClr val="1E3A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868680"/>
            <a:ext cx="2926080" cy="256032"/>
          </a:xfrm>
          <a:prstGeom prst="rect">
            <a:avLst/>
          </a:prstGeom>
          <a:solidFill>
            <a:srgbClr val="1E3A2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8686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CLINICAL &amp; EPIDEMIOLOGICAL DATA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• LASI-DAD National Study (Lancet Public Health / PLOS ONE): 8.8M Indian seniors (60+) with dementia (2026), 7.4–8.44% prevalence, 17.6% MCI; projected 14.3M by 2036.</a:t>
            </a:r>
            <a:endParaRPr lang="en-US" sz="720" dirty="0"/>
          </a:p>
          <a:p>
            <a:pPr indent="0" marL="0">
              <a:lnSpc>
                <a:spcPts val="1100"/>
              </a:lnSpc>
              <a:buNone/>
            </a:pPr>
            <a:endParaRPr lang="en-US" sz="7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• WHO / Alzheimer’s Disease International: ~55M global cases (2026) → 139M by 2050; 60%+ in LMICs.</a:t>
            </a:r>
            <a:endParaRPr lang="en-US" sz="720" dirty="0"/>
          </a:p>
          <a:p>
            <a:pPr indent="0" marL="0">
              <a:lnSpc>
                <a:spcPts val="1100"/>
              </a:lnSpc>
              <a:buNone/>
            </a:pPr>
            <a:endParaRPr lang="en-US" sz="7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• NER Specifics: ~280,000–350,000 cases across 8 states (Assam ~180K+); Vascular Dementia is ~20% of cases due to hypertension (Kamrup ~33%) &amp; high-sodium diets (Khar, Ngari, Shidol).</a:t>
            </a:r>
            <a:endParaRPr lang="en-US" sz="720" dirty="0"/>
          </a:p>
          <a:p>
            <a:pPr indent="0" marL="0">
              <a:lnSpc>
                <a:spcPts val="1100"/>
              </a:lnSpc>
              <a:buNone/>
            </a:pPr>
            <a:endParaRPr lang="en-US" sz="7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• "Neurology Desert": 85%+ of NER neurologists are in Guwahati; hill states have near-zero full-time rural neurologists.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6126480" y="777240"/>
            <a:ext cx="55778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25400">
            <a:solidFill>
              <a:srgbClr val="1E40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868680"/>
            <a:ext cx="2011680" cy="25603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868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OUR WORKS &amp; REPOSITORIES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09360" y="118872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40" dirty="0">
                <a:solidFill>
                  <a:srgbClr val="0F172A"/>
                </a:solidFill>
              </a:rPr>
              <a:t>• Live Frontend SPA: Deployed on Vercel Engine</a:t>
            </a:r>
            <a:endParaRPr lang="en-US" sz="740" dirty="0"/>
          </a:p>
          <a:p>
            <a:pPr indent="0" marL="0">
              <a:lnSpc>
                <a:spcPts val="1200"/>
              </a:lnSpc>
              <a:buNone/>
            </a:pPr>
            <a:r>
              <a:rPr lang="en-US" sz="740" dirty="0">
                <a:solidFill>
                  <a:srgbClr val="0F172A"/>
                </a:solidFill>
              </a:rPr>
              <a:t>• Live Backend API: Node.js / MongoDB Atlas on Render</a:t>
            </a:r>
            <a:endParaRPr lang="en-US" sz="740" dirty="0"/>
          </a:p>
          <a:p>
            <a:pPr indent="0" marL="0">
              <a:lnSpc>
                <a:spcPts val="1200"/>
              </a:lnSpc>
              <a:buNone/>
            </a:pPr>
            <a:r>
              <a:rPr lang="en-US" sz="740" dirty="0">
                <a:solidFill>
                  <a:srgbClr val="0F172A"/>
                </a:solidFill>
              </a:rPr>
              <a:t>• Live ML Microservice: https://dementia-ai-engine.onrender.com</a:t>
            </a:r>
            <a:endParaRPr lang="en-US" sz="740" dirty="0"/>
          </a:p>
          <a:p>
            <a:pPr indent="0" marL="0">
              <a:lnSpc>
                <a:spcPts val="1200"/>
              </a:lnSpc>
              <a:buNone/>
            </a:pPr>
            <a:r>
              <a:rPr lang="en-US" sz="740" dirty="0">
                <a:solidFill>
                  <a:srgbClr val="0F172A"/>
                </a:solidFill>
              </a:rPr>
              <a:t>• WhatsApp Companion Bot: https://wa.me/15556680031</a:t>
            </a:r>
            <a:endParaRPr lang="en-US" sz="740" dirty="0"/>
          </a:p>
          <a:p>
            <a:pPr indent="0" marL="0">
              <a:lnSpc>
                <a:spcPts val="1200"/>
              </a:lnSpc>
              <a:buNone/>
            </a:pPr>
            <a:r>
              <a:rPr lang="en-US" sz="740" dirty="0">
                <a:solidFill>
                  <a:srgbClr val="0F172A"/>
                </a:solidFill>
              </a:rPr>
              <a:t>• GitHub Codebase: github.com/gopalrajlohiya11-ui/Smriti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6309360" y="2514600"/>
            <a:ext cx="2926080" cy="228600"/>
          </a:xfrm>
          <a:prstGeom prst="rect">
            <a:avLst/>
          </a:prstGeom>
          <a:solidFill>
            <a:srgbClr val="C25E2E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5146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ACADEMIC &amp; OPEN-SOURCE CITATIONS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309360" y="278892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• LASI-DAD Diagnostic Study: doi.org/10.1016/S2468-2667(22)00301-7</a:t>
            </a:r>
            <a:endParaRPr lang="en-US" sz="7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• DementiaVoiceAnalyzer: github.com/Butovens/DementiaVoiceAnalyzer</a:t>
            </a:r>
            <a:endParaRPr lang="en-US" sz="7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• NEUROHACK2022_Dementia: github.com/shreyasgite/dementianet</a:t>
            </a:r>
            <a:endParaRPr lang="en-US" sz="7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• NICE Clinical Guidelines CG42: Cognitive Stimulation Therapy</a:t>
            </a:r>
            <a:endParaRPr lang="en-US" sz="7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• Institutions: ARDSI Guwahati/Mizoram, NIMHANS (Tele-MANAS 14416), SCARF India (DEMCARES), MDoNER &amp; NEC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C25E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892040"/>
            <a:ext cx="2743200" cy="228600"/>
          </a:xfrm>
          <a:prstGeom prst="rect">
            <a:avLst/>
          </a:prstGeom>
          <a:solidFill>
            <a:srgbClr val="C25E2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WHY EXISTING SOLUTIONS FAIL IN NER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640080" y="516636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• CogniFit / Lumosity / BrainHQ: $15–20/month subscription (unaffordable in rural NER), English-only, abstract geometric puzzles with zero cultural resonance, requires high-speed broadband.</a:t>
            </a:r>
            <a:endParaRPr lang="en-US" sz="7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• MindMate / Timeless / CareZone: Geared for Western/NHS healthcare pathways, lacks Indian joint-family context, zero Assamese/Hindi voice, no WhatsApp outreach, crashes on slow 2G rural hill connections.</a:t>
            </a:r>
            <a:endParaRPr lang="en-US" sz="7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20" dirty="0">
                <a:solidFill>
                  <a:srgbClr val="334155"/>
                </a:solidFill>
              </a:rPr>
              <a:t>• Smriti Advantage: 100% Free, culturally familiar NER themes (Kaji Nemu, Bihu Dhol), true offline-first PWA, WhatsApp bot check-ins, live Render ML telemetry.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Smart India Hackathon 2026 (MDoNER)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Smriti (স্মৃতি) — SIH26003 Presentation Deck</dc:title>
  <dc:subject>PptxGenJS Presentation</dc:subject>
  <dc:creator>Team Design Divas</dc:creator>
  <cp:lastModifiedBy>Team Design Divas</cp:lastModifiedBy>
  <cp:revision>1</cp:revision>
  <dcterms:created xsi:type="dcterms:W3CDTF">2026-09-08T13:52:27Z</dcterms:created>
  <dcterms:modified xsi:type="dcterms:W3CDTF">2026-09-08T13:52:27Z</dcterms:modified>
</cp:coreProperties>
</file>